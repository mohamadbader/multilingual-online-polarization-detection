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6858000" cx="12192000"/>
  <p:notesSz cx="6858000" cy="9144000"/>
  <p:embeddedFontLst>
    <p:embeddedFont>
      <p:font typeface="Manrope SemiBold"/>
      <p:regular r:id="rId39"/>
      <p:bold r:id="rId40"/>
    </p:embeddedFont>
    <p:embeddedFont>
      <p:font typeface="Manrope"/>
      <p:regular r:id="rId41"/>
      <p:bold r:id="rId42"/>
    </p:embeddedFont>
    <p:embeddedFont>
      <p:font typeface="JetBrains Mono SemiBold"/>
      <p:regular r:id="rId43"/>
      <p:bold r:id="rId44"/>
      <p:italic r:id="rId45"/>
      <p:boldItalic r:id="rId46"/>
    </p:embeddedFont>
    <p:embeddedFont>
      <p:font typeface="Manrope ExtraBold"/>
      <p:bold r:id="rId47"/>
    </p:embeddedFont>
    <p:embeddedFont>
      <p:font typeface="JetBrains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E25B36-2C86-4994-86C3-6929DEDAE696}">
  <a:tblStyle styleId="{E0E25B36-2C86-4994-86C3-6929DEDAE69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nropeSemiBold-bold.fntdata"/><Relationship Id="rId42" Type="http://schemas.openxmlformats.org/officeDocument/2006/relationships/font" Target="fonts/Manrope-bold.fntdata"/><Relationship Id="rId41" Type="http://schemas.openxmlformats.org/officeDocument/2006/relationships/font" Target="fonts/Manrope-regular.fntdata"/><Relationship Id="rId44" Type="http://schemas.openxmlformats.org/officeDocument/2006/relationships/font" Target="fonts/JetBrainsMonoSemiBold-bold.fntdata"/><Relationship Id="rId43" Type="http://schemas.openxmlformats.org/officeDocument/2006/relationships/font" Target="fonts/JetBrainsMonoSemiBold-regular.fntdata"/><Relationship Id="rId46" Type="http://schemas.openxmlformats.org/officeDocument/2006/relationships/font" Target="fonts/JetBrainsMonoSemiBold-boldItalic.fntdata"/><Relationship Id="rId45" Type="http://schemas.openxmlformats.org/officeDocument/2006/relationships/font" Target="fonts/JetBrainsMono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JetBrainsMono-regular.fntdata"/><Relationship Id="rId47" Type="http://schemas.openxmlformats.org/officeDocument/2006/relationships/font" Target="fonts/ManropeExtraBold-bold.fntdata"/><Relationship Id="rId49" Type="http://schemas.openxmlformats.org/officeDocument/2006/relationships/font" Target="fonts/JetBrainsMon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ManropeSemiBold-regular.fntdata"/><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JetBrainsMono-boldItalic.fntdata"/><Relationship Id="rId50" Type="http://schemas.openxmlformats.org/officeDocument/2006/relationships/font" Target="fonts/JetBrainsMon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b4b0a3bf0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b4b0a3bf02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4b0a3bf0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b4b0a3bf02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4b0a3bf02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b4b0a3bf02_0_7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4b0a3bf02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b4b0a3bf02_0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b4b0a3bf02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3b4b0a3bf02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b4b0a3bf02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b4b0a3bf02_0_4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b4b0a3bf02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g3b4b0a3bf02_0_6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22"/>
          <p:cNvSpPr/>
          <p:nvPr>
            <p:ph idx="2" type="pic"/>
          </p:nvPr>
        </p:nvSpPr>
        <p:spPr>
          <a:xfrm>
            <a:off x="1792288" y="612775"/>
            <a:ext cx="5486400" cy="4114800"/>
          </a:xfrm>
          <a:prstGeom prst="rect">
            <a:avLst/>
          </a:prstGeom>
          <a:noFill/>
          <a:ln>
            <a:noFill/>
          </a:ln>
        </p:spPr>
      </p:sp>
      <p:sp>
        <p:nvSpPr>
          <p:cNvPr id="139" name="Google Shape;13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3"/>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4"/>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9.pn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5.png"/><Relationship Id="rId11" Type="http://schemas.openxmlformats.org/officeDocument/2006/relationships/image" Target="../media/image1.png"/><Relationship Id="rId10" Type="http://schemas.openxmlformats.org/officeDocument/2006/relationships/image" Target="../media/image9.png"/><Relationship Id="rId12" Type="http://schemas.openxmlformats.org/officeDocument/2006/relationships/image" Target="../media/image2.png"/><Relationship Id="rId9" Type="http://schemas.openxmlformats.org/officeDocument/2006/relationships/image" Target="../media/image50.png"/><Relationship Id="rId5" Type="http://schemas.openxmlformats.org/officeDocument/2006/relationships/image" Target="../media/image31.png"/><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57.png"/></Relationships>
</file>

<file path=ppt/slides/_rels/slide7.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38.png"/><Relationship Id="rId13" Type="http://schemas.openxmlformats.org/officeDocument/2006/relationships/image" Target="../media/image15.png"/><Relationship Id="rId12"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50.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8.png"/><Relationship Id="rId8"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59.png"/><Relationship Id="rId12"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42.png"/><Relationship Id="rId5" Type="http://schemas.openxmlformats.org/officeDocument/2006/relationships/image" Target="../media/image27.png"/><Relationship Id="rId6" Type="http://schemas.openxmlformats.org/officeDocument/2006/relationships/image" Target="../media/image26.png"/><Relationship Id="rId7" Type="http://schemas.openxmlformats.org/officeDocument/2006/relationships/image" Target="../media/image16.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55.png"/><Relationship Id="rId5" Type="http://schemas.openxmlformats.org/officeDocument/2006/relationships/image" Target="../media/image68.png"/><Relationship Id="rId6" Type="http://schemas.openxmlformats.org/officeDocument/2006/relationships/image" Target="../media/image83.png"/><Relationship Id="rId7" Type="http://schemas.openxmlformats.org/officeDocument/2006/relationships/image" Target="../media/image6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60.png"/><Relationship Id="rId9" Type="http://schemas.openxmlformats.org/officeDocument/2006/relationships/image" Target="../media/image56.png"/><Relationship Id="rId5" Type="http://schemas.openxmlformats.org/officeDocument/2006/relationships/image" Target="../media/image48.png"/><Relationship Id="rId6" Type="http://schemas.openxmlformats.org/officeDocument/2006/relationships/image" Target="../media/image41.png"/><Relationship Id="rId7" Type="http://schemas.openxmlformats.org/officeDocument/2006/relationships/image" Target="../media/image36.png"/><Relationship Id="rId8"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53.png"/><Relationship Id="rId12" Type="http://schemas.openxmlformats.org/officeDocument/2006/relationships/image" Target="../media/image52.png"/><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54.png"/><Relationship Id="rId9" Type="http://schemas.openxmlformats.org/officeDocument/2006/relationships/image" Target="../media/image67.png"/><Relationship Id="rId5" Type="http://schemas.openxmlformats.org/officeDocument/2006/relationships/image" Target="../media/image51.png"/><Relationship Id="rId6" Type="http://schemas.openxmlformats.org/officeDocument/2006/relationships/image" Target="../media/image8.png"/><Relationship Id="rId7" Type="http://schemas.openxmlformats.org/officeDocument/2006/relationships/image" Target="../media/image32.png"/><Relationship Id="rId8"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75.png"/><Relationship Id="rId5" Type="http://schemas.openxmlformats.org/officeDocument/2006/relationships/image" Target="../media/image6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8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74.png"/><Relationship Id="rId9" Type="http://schemas.openxmlformats.org/officeDocument/2006/relationships/image" Target="../media/image65.png"/><Relationship Id="rId5" Type="http://schemas.openxmlformats.org/officeDocument/2006/relationships/image" Target="../media/image71.png"/><Relationship Id="rId6" Type="http://schemas.openxmlformats.org/officeDocument/2006/relationships/image" Target="../media/image62.png"/><Relationship Id="rId7" Type="http://schemas.openxmlformats.org/officeDocument/2006/relationships/image" Target="../media/image66.png"/><Relationship Id="rId8" Type="http://schemas.openxmlformats.org/officeDocument/2006/relationships/image" Target="../media/image6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72.png"/><Relationship Id="rId7" Type="http://schemas.openxmlformats.org/officeDocument/2006/relationships/image" Target="../media/image7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76.png"/><Relationship Id="rId5" Type="http://schemas.openxmlformats.org/officeDocument/2006/relationships/image" Target="../media/image85.png"/><Relationship Id="rId6" Type="http://schemas.openxmlformats.org/officeDocument/2006/relationships/image" Target="../media/image7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77.png"/><Relationship Id="rId5" Type="http://schemas.openxmlformats.org/officeDocument/2006/relationships/image" Target="../media/image8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79.png"/><Relationship Id="rId5"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image.png" id="159" name="Google Shape;159;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0" name="Google Shape;160;p25"/>
          <p:cNvSpPr txBox="1"/>
          <p:nvPr/>
        </p:nvSpPr>
        <p:spPr>
          <a:xfrm>
            <a:off x="581025" y="1264146"/>
            <a:ext cx="110299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6366F1"/>
                </a:solidFill>
                <a:latin typeface="Manrope"/>
                <a:ea typeface="Manrope"/>
                <a:cs typeface="Manrope"/>
                <a:sym typeface="Manrope"/>
              </a:rPr>
              <a:t>SEMEVAL-2026 TASK 9</a:t>
            </a:r>
            <a:endParaRPr/>
          </a:p>
        </p:txBody>
      </p:sp>
      <p:sp>
        <p:nvSpPr>
          <p:cNvPr id="161" name="Google Shape;161;p25"/>
          <p:cNvSpPr txBox="1"/>
          <p:nvPr/>
        </p:nvSpPr>
        <p:spPr>
          <a:xfrm>
            <a:off x="305276" y="1744116"/>
            <a:ext cx="11581447" cy="134094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4800" u="none" cap="none" strike="noStrike">
                <a:solidFill>
                  <a:srgbClr val="F8FAFC"/>
                </a:solidFill>
                <a:latin typeface="Manrope ExtraBold"/>
                <a:ea typeface="Manrope ExtraBold"/>
                <a:cs typeface="Manrope ExtraBold"/>
                <a:sym typeface="Manrope ExtraBold"/>
              </a:rPr>
              <a:t>Multilingual Online</a:t>
            </a:r>
            <a:br>
              <a:rPr b="0" i="0" lang="en-US" sz="1800" u="none" cap="none" strike="noStrike">
                <a:solidFill>
                  <a:schemeClr val="dk1"/>
                </a:solidFill>
                <a:latin typeface="Calibri"/>
                <a:ea typeface="Calibri"/>
                <a:cs typeface="Calibri"/>
                <a:sym typeface="Calibri"/>
              </a:rPr>
            </a:br>
            <a:r>
              <a:rPr b="0" i="0" lang="en-US" sz="4800" u="none" cap="none" strike="noStrike">
                <a:solidFill>
                  <a:srgbClr val="F8FAFC"/>
                </a:solidFill>
                <a:latin typeface="Manrope ExtraBold"/>
                <a:ea typeface="Manrope ExtraBold"/>
                <a:cs typeface="Manrope ExtraBold"/>
                <a:sym typeface="Manrope ExtraBold"/>
              </a:rPr>
              <a:t> Polarization Detection</a:t>
            </a:r>
            <a:endParaRPr/>
          </a:p>
        </p:txBody>
      </p:sp>
      <p:sp>
        <p:nvSpPr>
          <p:cNvPr id="162" name="Google Shape;162;p25"/>
          <p:cNvSpPr txBox="1"/>
          <p:nvPr/>
        </p:nvSpPr>
        <p:spPr>
          <a:xfrm>
            <a:off x="2286000" y="3313658"/>
            <a:ext cx="7620000" cy="7923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CBD5E1"/>
                </a:solidFill>
                <a:latin typeface="Manrope"/>
                <a:ea typeface="Manrope"/>
                <a:cs typeface="Manrope"/>
                <a:sym typeface="Manrope"/>
              </a:rPr>
              <a:t>A Teacher-Student Knowledge Distillation Approach for Robust Cross-Lingual Generalization</a:t>
            </a:r>
            <a:endParaRPr/>
          </a:p>
        </p:txBody>
      </p:sp>
      <p:sp>
        <p:nvSpPr>
          <p:cNvPr id="163" name="Google Shape;163;p25"/>
          <p:cNvSpPr txBox="1"/>
          <p:nvPr/>
        </p:nvSpPr>
        <p:spPr>
          <a:xfrm>
            <a:off x="4838700" y="4868019"/>
            <a:ext cx="25146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FFFFFF"/>
                </a:solidFill>
                <a:latin typeface="Manrope"/>
                <a:ea typeface="Manrope"/>
                <a:cs typeface="Manrope"/>
                <a:sym typeface="Manrope"/>
              </a:rPr>
              <a:t>Presented By</a:t>
            </a:r>
            <a:r>
              <a:rPr b="1" lang="en-US" sz="1425">
                <a:solidFill>
                  <a:srgbClr val="FFFFFF"/>
                </a:solidFill>
                <a:latin typeface="Manrope"/>
                <a:ea typeface="Manrope"/>
                <a:cs typeface="Manrope"/>
                <a:sym typeface="Manrope"/>
              </a:rPr>
              <a:t> Group 25:</a:t>
            </a:r>
            <a:endParaRPr/>
          </a:p>
        </p:txBody>
      </p:sp>
      <p:sp>
        <p:nvSpPr>
          <p:cNvPr id="164" name="Google Shape;164;p25"/>
          <p:cNvSpPr txBox="1"/>
          <p:nvPr/>
        </p:nvSpPr>
        <p:spPr>
          <a:xfrm>
            <a:off x="4838700" y="5205114"/>
            <a:ext cx="25146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Manrope"/>
                <a:ea typeface="Manrope"/>
                <a:cs typeface="Manrope"/>
                <a:sym typeface="Manrope"/>
              </a:rPr>
              <a:t>Mohamad, Eid, Layan, Ata, Yasin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image.png" id="169" name="Google Shape;169;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0" name="Google Shape;170;p26"/>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Introduction: Defining Polarization</a:t>
            </a:r>
            <a:endParaRPr/>
          </a:p>
        </p:txBody>
      </p:sp>
      <p:sp>
        <p:nvSpPr>
          <p:cNvPr id="171" name="Google Shape;171;p26"/>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26"/>
          <p:cNvSpPr txBox="1"/>
          <p:nvPr/>
        </p:nvSpPr>
        <p:spPr>
          <a:xfrm>
            <a:off x="581025" y="1754832"/>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What is Polarization?</a:t>
            </a:r>
            <a:endParaRPr/>
          </a:p>
        </p:txBody>
      </p:sp>
      <p:sp>
        <p:nvSpPr>
          <p:cNvPr id="173" name="Google Shape;173;p26"/>
          <p:cNvSpPr txBox="1"/>
          <p:nvPr/>
        </p:nvSpPr>
        <p:spPr>
          <a:xfrm>
            <a:off x="581025" y="2179587"/>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In this project, we define polarization not just as negativity, but as:</a:t>
            </a:r>
            <a:endParaRPr/>
          </a:p>
        </p:txBody>
      </p:sp>
      <p:sp>
        <p:nvSpPr>
          <p:cNvPr id="174" name="Google Shape;174;p26"/>
          <p:cNvSpPr/>
          <p:nvPr/>
        </p:nvSpPr>
        <p:spPr>
          <a:xfrm>
            <a:off x="581025" y="4449812"/>
            <a:ext cx="5276850" cy="5905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26"/>
          <p:cNvSpPr txBox="1"/>
          <p:nvPr/>
        </p:nvSpPr>
        <p:spPr>
          <a:xfrm>
            <a:off x="771525" y="4640312"/>
            <a:ext cx="489585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A5B4FC"/>
                </a:solidFill>
                <a:latin typeface="JetBrains Mono"/>
                <a:ea typeface="JetBrains Mono"/>
                <a:cs typeface="JetBrains Mono"/>
                <a:sym typeface="JetBrains Mono"/>
              </a:rPr>
              <a:t>Polarization ≠ Toxicity ≠ Subjectivity</a:t>
            </a:r>
            <a:endParaRPr/>
          </a:p>
        </p:txBody>
      </p:sp>
      <p:sp>
        <p:nvSpPr>
          <p:cNvPr id="176" name="Google Shape;176;p26"/>
          <p:cNvSpPr/>
          <p:nvPr/>
        </p:nvSpPr>
        <p:spPr>
          <a:xfrm>
            <a:off x="581025" y="4449812"/>
            <a:ext cx="38100" cy="59055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26"/>
          <p:cNvSpPr txBox="1"/>
          <p:nvPr/>
        </p:nvSpPr>
        <p:spPr>
          <a:xfrm>
            <a:off x="581025" y="5230862"/>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While related, polarization is distinct from general toxicity (insults) or subjectivity (opinions).</a:t>
            </a:r>
            <a:endParaRPr/>
          </a:p>
        </p:txBody>
      </p:sp>
      <p:sp>
        <p:nvSpPr>
          <p:cNvPr id="178" name="Google Shape;178;p26"/>
          <p:cNvSpPr txBox="1"/>
          <p:nvPr/>
        </p:nvSpPr>
        <p:spPr>
          <a:xfrm>
            <a:off x="809625" y="2872829"/>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"Us vs. Them" Framing:</a:t>
            </a:r>
            <a:r>
              <a:rPr b="0" i="0" lang="en-US" sz="1425" u="none" cap="none" strike="noStrike">
                <a:solidFill>
                  <a:srgbClr val="CBD5E1"/>
                </a:solidFill>
                <a:latin typeface="Manrope"/>
                <a:ea typeface="Manrope"/>
                <a:cs typeface="Manrope"/>
                <a:sym typeface="Manrope"/>
              </a:rPr>
              <a:t> Strong in-group/out-group distinction.</a:t>
            </a:r>
            <a:endParaRPr/>
          </a:p>
        </p:txBody>
      </p:sp>
      <p:sp>
        <p:nvSpPr>
          <p:cNvPr id="179" name="Google Shape;179;p26"/>
          <p:cNvSpPr txBox="1"/>
          <p:nvPr/>
        </p:nvSpPr>
        <p:spPr>
          <a:xfrm>
            <a:off x="809625" y="3566070"/>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Hostility:</a:t>
            </a:r>
            <a:r>
              <a:rPr b="0" i="0" lang="en-US" sz="1425" u="none" cap="none" strike="noStrike">
                <a:solidFill>
                  <a:srgbClr val="CBD5E1"/>
                </a:solidFill>
                <a:latin typeface="Manrope"/>
                <a:ea typeface="Manrope"/>
                <a:cs typeface="Manrope"/>
                <a:sym typeface="Manrope"/>
              </a:rPr>
              <a:t> Aggressive posturing towards opposing views.</a:t>
            </a:r>
            <a:endParaRPr/>
          </a:p>
        </p:txBody>
      </p:sp>
      <p:sp>
        <p:nvSpPr>
          <p:cNvPr id="180" name="Google Shape;180;p26"/>
          <p:cNvSpPr txBox="1"/>
          <p:nvPr/>
        </p:nvSpPr>
        <p:spPr>
          <a:xfrm>
            <a:off x="809625" y="3969841"/>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Firmly Held Beliefs:</a:t>
            </a:r>
            <a:r>
              <a:rPr b="0" i="0" lang="en-US" sz="1425" u="none" cap="none" strike="noStrike">
                <a:solidFill>
                  <a:srgbClr val="CBD5E1"/>
                </a:solidFill>
                <a:latin typeface="Manrope"/>
                <a:ea typeface="Manrope"/>
                <a:cs typeface="Manrope"/>
                <a:sym typeface="Manrope"/>
              </a:rPr>
              <a:t> Unwavering ideological stance.</a:t>
            </a:r>
            <a:endParaRPr/>
          </a:p>
        </p:txBody>
      </p:sp>
      <p:sp>
        <p:nvSpPr>
          <p:cNvPr id="181" name="Google Shape;181;p26"/>
          <p:cNvSpPr txBox="1"/>
          <p:nvPr/>
        </p:nvSpPr>
        <p:spPr>
          <a:xfrm>
            <a:off x="581025" y="2853779"/>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182" name="Google Shape;182;p26"/>
          <p:cNvSpPr txBox="1"/>
          <p:nvPr/>
        </p:nvSpPr>
        <p:spPr>
          <a:xfrm>
            <a:off x="581025" y="3547020"/>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183" name="Google Shape;183;p26"/>
          <p:cNvSpPr txBox="1"/>
          <p:nvPr/>
        </p:nvSpPr>
        <p:spPr>
          <a:xfrm>
            <a:off x="581025" y="395079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pic>
        <p:nvPicPr>
          <p:cNvPr descr="create an image that I can put in my slides along side the intorcution &quot;online polarization&quot;" id="184" name="Google Shape;184;p26"/>
          <p:cNvPicPr preferRelativeResize="0"/>
          <p:nvPr/>
        </p:nvPicPr>
        <p:blipFill>
          <a:blip r:embed="rId4">
            <a:alphaModFix/>
          </a:blip>
          <a:stretch>
            <a:fillRect/>
          </a:stretch>
        </p:blipFill>
        <p:spPr>
          <a:xfrm>
            <a:off x="6446650" y="2185900"/>
            <a:ext cx="5540700" cy="3084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image.png" id="189" name="Google Shape;189;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0" name="Google Shape;190;p27"/>
          <p:cNvPicPr preferRelativeResize="0"/>
          <p:nvPr/>
        </p:nvPicPr>
        <p:blipFill rotWithShape="1">
          <a:blip r:embed="rId4">
            <a:alphaModFix/>
          </a:blip>
          <a:srcRect b="0" l="0" r="0" t="0"/>
          <a:stretch/>
        </p:blipFill>
        <p:spPr>
          <a:xfrm>
            <a:off x="581025" y="1306710"/>
            <a:ext cx="5276850" cy="5065514"/>
          </a:xfrm>
          <a:prstGeom prst="rect">
            <a:avLst/>
          </a:prstGeom>
          <a:noFill/>
          <a:ln>
            <a:noFill/>
          </a:ln>
        </p:spPr>
      </p:pic>
      <p:pic>
        <p:nvPicPr>
          <p:cNvPr descr="image.png" id="191" name="Google Shape;191;p27"/>
          <p:cNvPicPr preferRelativeResize="0"/>
          <p:nvPr/>
        </p:nvPicPr>
        <p:blipFill rotWithShape="1">
          <a:blip r:embed="rId5">
            <a:alphaModFix/>
          </a:blip>
          <a:srcRect b="0" l="0" r="0" t="0"/>
          <a:stretch/>
        </p:blipFill>
        <p:spPr>
          <a:xfrm>
            <a:off x="6334125" y="1306710"/>
            <a:ext cx="5276850" cy="5065514"/>
          </a:xfrm>
          <a:prstGeom prst="rect">
            <a:avLst/>
          </a:prstGeom>
          <a:noFill/>
          <a:ln>
            <a:noFill/>
          </a:ln>
        </p:spPr>
      </p:pic>
      <p:sp>
        <p:nvSpPr>
          <p:cNvPr id="192" name="Google Shape;192;p27"/>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The Core Challenge</a:t>
            </a:r>
            <a:endParaRPr/>
          </a:p>
        </p:txBody>
      </p:sp>
      <p:sp>
        <p:nvSpPr>
          <p:cNvPr id="193" name="Google Shape;193;p27"/>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7"/>
          <p:cNvSpPr txBox="1"/>
          <p:nvPr/>
        </p:nvSpPr>
        <p:spPr>
          <a:xfrm>
            <a:off x="895350" y="1621035"/>
            <a:ext cx="4880700" cy="300300"/>
          </a:xfrm>
          <a:prstGeom prst="rect">
            <a:avLst/>
          </a:prstGeom>
          <a:noFill/>
          <a:ln>
            <a:noFill/>
          </a:ln>
        </p:spPr>
        <p:txBody>
          <a:bodyPr anchorCtr="0" anchor="t" bIns="0" lIns="247650" spcFirstLastPara="1" rIns="0" wrap="square" tIns="0">
            <a:spAutoFit/>
          </a:bodyPr>
          <a:lstStyle/>
          <a:p>
            <a:pPr indent="0" lvl="0" marL="0" marR="0" rtl="0" algn="l">
              <a:lnSpc>
                <a:spcPct val="110000"/>
              </a:lnSpc>
              <a:spcBef>
                <a:spcPts val="0"/>
              </a:spcBef>
              <a:spcAft>
                <a:spcPts val="0"/>
              </a:spcAft>
              <a:buNone/>
            </a:pPr>
            <a:r>
              <a:rPr lang="en-US" sz="1950">
                <a:solidFill>
                  <a:srgbClr val="818CF8"/>
                </a:solidFill>
                <a:latin typeface="Manrope SemiBold"/>
                <a:ea typeface="Manrope SemiBold"/>
                <a:cs typeface="Manrope SemiBold"/>
                <a:sym typeface="Manrope SemiBold"/>
              </a:rPr>
              <a:t> </a:t>
            </a:r>
            <a:r>
              <a:rPr b="0" i="0" lang="en-US" sz="1950" u="none" cap="none" strike="noStrike">
                <a:solidFill>
                  <a:srgbClr val="818CF8"/>
                </a:solidFill>
                <a:latin typeface="Manrope SemiBold"/>
                <a:ea typeface="Manrope SemiBold"/>
                <a:cs typeface="Manrope SemiBold"/>
                <a:sym typeface="Manrope SemiBold"/>
              </a:rPr>
              <a:t>Multilingual Scale</a:t>
            </a:r>
            <a:endParaRPr/>
          </a:p>
        </p:txBody>
      </p:sp>
      <p:sp>
        <p:nvSpPr>
          <p:cNvPr id="195" name="Google Shape;195;p27"/>
          <p:cNvSpPr txBox="1"/>
          <p:nvPr/>
        </p:nvSpPr>
        <p:spPr>
          <a:xfrm>
            <a:off x="895350" y="2045791"/>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 task spans </a:t>
            </a:r>
            <a:r>
              <a:rPr b="1" i="0" lang="en-US" sz="1425" u="none" cap="none" strike="noStrike">
                <a:solidFill>
                  <a:srgbClr val="CBD5E1"/>
                </a:solidFill>
                <a:latin typeface="Manrope"/>
                <a:ea typeface="Manrope"/>
                <a:cs typeface="Manrope"/>
                <a:sym typeface="Manrope"/>
              </a:rPr>
              <a:t>22 languages</a:t>
            </a:r>
            <a:r>
              <a:rPr b="0" i="0" lang="en-US" sz="1425" u="none" cap="none" strike="noStrike">
                <a:solidFill>
                  <a:srgbClr val="CBD5E1"/>
                </a:solidFill>
                <a:latin typeface="Manrope"/>
                <a:ea typeface="Manrope"/>
                <a:cs typeface="Manrope"/>
                <a:sym typeface="Manrope"/>
              </a:rPr>
              <a:t>, including diverse scripts (Latin, Cyrillic, Arabic) and cultural contexts.</a:t>
            </a:r>
            <a:endParaRPr/>
          </a:p>
        </p:txBody>
      </p:sp>
      <p:sp>
        <p:nvSpPr>
          <p:cNvPr id="196" name="Google Shape;196;p27"/>
          <p:cNvSpPr txBox="1"/>
          <p:nvPr/>
        </p:nvSpPr>
        <p:spPr>
          <a:xfrm>
            <a:off x="895350" y="2739032"/>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Problem:</a:t>
            </a:r>
            <a:r>
              <a:rPr b="0" i="0" lang="en-US" sz="1425" u="none" cap="none" strike="noStrike">
                <a:solidFill>
                  <a:srgbClr val="CBD5E1"/>
                </a:solidFill>
                <a:latin typeface="Manrope"/>
                <a:ea typeface="Manrope"/>
                <a:cs typeface="Manrope"/>
                <a:sym typeface="Manrope"/>
              </a:rPr>
              <a:t> Purely supervised training often fails in low-resource settings where labeled data is scarce.</a:t>
            </a:r>
            <a:endParaRPr/>
          </a:p>
        </p:txBody>
      </p:sp>
      <p:sp>
        <p:nvSpPr>
          <p:cNvPr id="197" name="Google Shape;197;p27"/>
          <p:cNvSpPr txBox="1"/>
          <p:nvPr/>
        </p:nvSpPr>
        <p:spPr>
          <a:xfrm>
            <a:off x="6648450" y="1621035"/>
            <a:ext cx="4880700" cy="300300"/>
          </a:xfrm>
          <a:prstGeom prst="rect">
            <a:avLst/>
          </a:prstGeom>
          <a:noFill/>
          <a:ln>
            <a:noFill/>
          </a:ln>
        </p:spPr>
        <p:txBody>
          <a:bodyPr anchorCtr="0" anchor="t" bIns="0" lIns="314325" spcFirstLastPara="1" rIns="0" wrap="square" tIns="0">
            <a:spAutoFit/>
          </a:bodyPr>
          <a:lstStyle/>
          <a:p>
            <a:pPr indent="0" lvl="0" marL="0" marR="0" rtl="0" algn="l">
              <a:lnSpc>
                <a:spcPct val="110000"/>
              </a:lnSpc>
              <a:spcBef>
                <a:spcPts val="0"/>
              </a:spcBef>
              <a:spcAft>
                <a:spcPts val="0"/>
              </a:spcAft>
              <a:buNone/>
            </a:pPr>
            <a:r>
              <a:rPr lang="en-US" sz="1950">
                <a:solidFill>
                  <a:srgbClr val="818CF8"/>
                </a:solidFill>
                <a:latin typeface="Manrope SemiBold"/>
                <a:ea typeface="Manrope SemiBold"/>
                <a:cs typeface="Manrope SemiBold"/>
                <a:sym typeface="Manrope SemiBold"/>
              </a:rPr>
              <a:t> </a:t>
            </a:r>
            <a:r>
              <a:rPr b="0" i="0" lang="en-US" sz="1950" u="none" cap="none" strike="noStrike">
                <a:solidFill>
                  <a:srgbClr val="818CF8"/>
                </a:solidFill>
                <a:latin typeface="Manrope SemiBold"/>
                <a:ea typeface="Manrope SemiBold"/>
                <a:cs typeface="Manrope SemiBold"/>
                <a:sym typeface="Manrope SemiBold"/>
              </a:rPr>
              <a:t>Resource Imbalance</a:t>
            </a:r>
            <a:endParaRPr/>
          </a:p>
        </p:txBody>
      </p:sp>
      <p:sp>
        <p:nvSpPr>
          <p:cNvPr id="198" name="Google Shape;198;p27"/>
          <p:cNvSpPr txBox="1"/>
          <p:nvPr/>
        </p:nvSpPr>
        <p:spPr>
          <a:xfrm>
            <a:off x="6648450" y="2045791"/>
            <a:ext cx="46482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High-resource languages (Like English, Spanish, Ger</a:t>
            </a:r>
            <a:r>
              <a:rPr lang="en-US" sz="1425">
                <a:solidFill>
                  <a:srgbClr val="CBD5E1"/>
                </a:solidFill>
                <a:latin typeface="Manrope"/>
                <a:ea typeface="Manrope"/>
                <a:cs typeface="Manrope"/>
                <a:sym typeface="Manrope"/>
              </a:rPr>
              <a:t>man…etc</a:t>
            </a:r>
            <a:r>
              <a:rPr b="0" i="0" lang="en-US" sz="1425" u="none" cap="none" strike="noStrike">
                <a:solidFill>
                  <a:srgbClr val="CBD5E1"/>
                </a:solidFill>
                <a:latin typeface="Manrope"/>
                <a:ea typeface="Manrope"/>
                <a:cs typeface="Manrope"/>
                <a:sym typeface="Manrope"/>
              </a:rPr>
              <a:t>) dominate the available models, while others lag behind.</a:t>
            </a:r>
            <a:endParaRPr/>
          </a:p>
        </p:txBody>
      </p:sp>
      <p:sp>
        <p:nvSpPr>
          <p:cNvPr id="199" name="Google Shape;199;p27"/>
          <p:cNvSpPr txBox="1"/>
          <p:nvPr/>
        </p:nvSpPr>
        <p:spPr>
          <a:xfrm>
            <a:off x="6648450" y="3091282"/>
            <a:ext cx="46482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Solution Strategy:</a:t>
            </a:r>
            <a:r>
              <a:rPr b="0" i="0" lang="en-US" sz="1425" u="none" cap="none" strike="noStrike">
                <a:solidFill>
                  <a:srgbClr val="CBD5E1"/>
                </a:solidFill>
                <a:latin typeface="Manrope"/>
                <a:ea typeface="Manrope"/>
                <a:cs typeface="Manrope"/>
                <a:sym typeface="Manrope"/>
              </a:rPr>
              <a:t> Use a </a:t>
            </a:r>
            <a:r>
              <a:rPr b="1" i="0" lang="en-US" sz="1425" u="none" cap="none" strike="noStrike">
                <a:solidFill>
                  <a:srgbClr val="6366F1"/>
                </a:solidFill>
                <a:latin typeface="Manrope"/>
                <a:ea typeface="Manrope"/>
                <a:cs typeface="Manrope"/>
                <a:sym typeface="Manrope"/>
              </a:rPr>
              <a:t>Teacher-Student</a:t>
            </a:r>
            <a:r>
              <a:rPr b="0" i="0" lang="en-US" sz="1425" u="none" cap="none" strike="noStrike">
                <a:solidFill>
                  <a:srgbClr val="CBD5E1"/>
                </a:solidFill>
                <a:latin typeface="Manrope"/>
                <a:ea typeface="Manrope"/>
                <a:cs typeface="Manrope"/>
                <a:sym typeface="Manrope"/>
              </a:rPr>
              <a:t> approach to transfer knowledge from a strong multilingual teacher to a student model.</a:t>
            </a:r>
            <a:endParaRPr/>
          </a:p>
        </p:txBody>
      </p:sp>
      <p:pic>
        <p:nvPicPr>
          <p:cNvPr descr="image.png" id="200" name="Google Shape;200;p27"/>
          <p:cNvPicPr preferRelativeResize="0"/>
          <p:nvPr/>
        </p:nvPicPr>
        <p:blipFill rotWithShape="1">
          <a:blip r:embed="rId6">
            <a:alphaModFix/>
          </a:blip>
          <a:srcRect b="0" l="0" r="0" t="0"/>
          <a:stretch/>
        </p:blipFill>
        <p:spPr>
          <a:xfrm>
            <a:off x="895350" y="1640085"/>
            <a:ext cx="247650" cy="247650"/>
          </a:xfrm>
          <a:prstGeom prst="rect">
            <a:avLst/>
          </a:prstGeom>
          <a:noFill/>
          <a:ln>
            <a:noFill/>
          </a:ln>
        </p:spPr>
      </p:pic>
      <p:pic>
        <p:nvPicPr>
          <p:cNvPr descr="image.png" id="201" name="Google Shape;201;p27"/>
          <p:cNvPicPr preferRelativeResize="0"/>
          <p:nvPr/>
        </p:nvPicPr>
        <p:blipFill rotWithShape="1">
          <a:blip r:embed="rId7">
            <a:alphaModFix/>
          </a:blip>
          <a:srcRect b="0" l="0" r="0" t="0"/>
          <a:stretch/>
        </p:blipFill>
        <p:spPr>
          <a:xfrm>
            <a:off x="6648450" y="1640085"/>
            <a:ext cx="314325" cy="247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image.png" id="206" name="Google Shape;206;p28"/>
          <p:cNvPicPr preferRelativeResize="0"/>
          <p:nvPr/>
        </p:nvPicPr>
        <p:blipFill rotWithShape="1">
          <a:blip r:embed="rId3">
            <a:alphaModFix/>
          </a:blip>
          <a:srcRect b="0" l="0" r="0" t="0"/>
          <a:stretch/>
        </p:blipFill>
        <p:spPr>
          <a:xfrm>
            <a:off x="16144" y="0"/>
            <a:ext cx="12192000" cy="6858000"/>
          </a:xfrm>
          <a:prstGeom prst="rect">
            <a:avLst/>
          </a:prstGeom>
          <a:noFill/>
          <a:ln>
            <a:noFill/>
          </a:ln>
        </p:spPr>
      </p:pic>
      <p:sp>
        <p:nvSpPr>
          <p:cNvPr id="207" name="Google Shape;207;p28"/>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Related Work: Context &amp; Definitions</a:t>
            </a:r>
            <a:endParaRPr/>
          </a:p>
        </p:txBody>
      </p:sp>
      <p:sp>
        <p:nvSpPr>
          <p:cNvPr id="208" name="Google Shape;208;p28"/>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8"/>
          <p:cNvSpPr txBox="1"/>
          <p:nvPr/>
        </p:nvSpPr>
        <p:spPr>
          <a:xfrm>
            <a:off x="581025" y="2782341"/>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Topic-Level Polarization</a:t>
            </a:r>
            <a:endParaRPr/>
          </a:p>
        </p:txBody>
      </p:sp>
      <p:sp>
        <p:nvSpPr>
          <p:cNvPr id="210" name="Google Shape;210;p28"/>
          <p:cNvSpPr txBox="1"/>
          <p:nvPr/>
        </p:nvSpPr>
        <p:spPr>
          <a:xfrm>
            <a:off x="581025" y="3207097"/>
            <a:ext cx="52768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He et al. (2021)</a:t>
            </a:r>
            <a:r>
              <a:rPr b="0" i="0" lang="en-US" sz="1425" u="none" cap="none" strike="noStrike">
                <a:solidFill>
                  <a:srgbClr val="CBD5E1"/>
                </a:solidFill>
                <a:latin typeface="Manrope"/>
                <a:ea typeface="Manrope"/>
                <a:cs typeface="Manrope"/>
                <a:sym typeface="Manrope"/>
              </a:rPr>
              <a:t> proposed </a:t>
            </a:r>
            <a:r>
              <a:rPr b="0" i="1" lang="en-US" sz="1425" u="none" cap="none" strike="noStrike">
                <a:solidFill>
                  <a:srgbClr val="CBD5E1"/>
                </a:solidFill>
                <a:latin typeface="Manrope"/>
                <a:ea typeface="Manrope"/>
                <a:cs typeface="Manrope"/>
                <a:sym typeface="Manrope"/>
              </a:rPr>
              <a:t>PaCTE</a:t>
            </a:r>
            <a:r>
              <a:rPr b="0" i="0" lang="en-US" sz="1425" u="none" cap="none" strike="noStrike">
                <a:solidFill>
                  <a:srgbClr val="CBD5E1"/>
                </a:solidFill>
                <a:latin typeface="Manrope"/>
                <a:ea typeface="Manrope"/>
                <a:cs typeface="Manrope"/>
                <a:sym typeface="Manrope"/>
              </a:rPr>
              <a:t>, measuring polarization by ranking topics based on ideological separation in contextual embeddings.</a:t>
            </a:r>
            <a:endParaRPr/>
          </a:p>
        </p:txBody>
      </p:sp>
      <p:sp>
        <p:nvSpPr>
          <p:cNvPr id="211" name="Google Shape;211;p28"/>
          <p:cNvSpPr txBox="1"/>
          <p:nvPr/>
        </p:nvSpPr>
        <p:spPr>
          <a:xfrm>
            <a:off x="581025" y="4285059"/>
            <a:ext cx="5276850" cy="49708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94A3B8"/>
                </a:solidFill>
                <a:latin typeface="Manrope"/>
                <a:ea typeface="Manrope"/>
                <a:cs typeface="Manrope"/>
                <a:sym typeface="Manrope"/>
              </a:rPr>
              <a:t>Relevance: Motivated our initial interest in topic-based signals (which we later audited).</a:t>
            </a:r>
            <a:endParaRPr/>
          </a:p>
        </p:txBody>
      </p:sp>
      <p:sp>
        <p:nvSpPr>
          <p:cNvPr id="212" name="Google Shape;212;p28"/>
          <p:cNvSpPr/>
          <p:nvPr/>
        </p:nvSpPr>
        <p:spPr>
          <a:xfrm>
            <a:off x="581025" y="4189809"/>
            <a:ext cx="5276850"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8"/>
          <p:cNvSpPr txBox="1"/>
          <p:nvPr/>
        </p:nvSpPr>
        <p:spPr>
          <a:xfrm>
            <a:off x="6334125" y="2789039"/>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Toxicity &amp; Discourse</a:t>
            </a:r>
            <a:endParaRPr/>
          </a:p>
        </p:txBody>
      </p:sp>
      <p:sp>
        <p:nvSpPr>
          <p:cNvPr id="214" name="Google Shape;214;p28"/>
          <p:cNvSpPr txBox="1"/>
          <p:nvPr/>
        </p:nvSpPr>
        <p:spPr>
          <a:xfrm>
            <a:off x="6334125" y="3213794"/>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Nugraha et al.</a:t>
            </a:r>
            <a:r>
              <a:rPr b="0" i="0" lang="en-US" sz="1425" u="none" cap="none" strike="noStrike">
                <a:solidFill>
                  <a:srgbClr val="CBD5E1"/>
                </a:solidFill>
                <a:latin typeface="Manrope"/>
                <a:ea typeface="Manrope"/>
                <a:cs typeface="Manrope"/>
                <a:sym typeface="Manrope"/>
              </a:rPr>
              <a:t> introduced multi-labeled discourse datasets covering toxicity, polarization, and demographics.</a:t>
            </a:r>
            <a:endParaRPr/>
          </a:p>
        </p:txBody>
      </p:sp>
      <p:sp>
        <p:nvSpPr>
          <p:cNvPr id="215" name="Google Shape;215;p28"/>
          <p:cNvSpPr txBox="1"/>
          <p:nvPr/>
        </p:nvSpPr>
        <p:spPr>
          <a:xfrm>
            <a:off x="6334125" y="3907035"/>
            <a:ext cx="52768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Their work showed that auxiliary signals can help, but also highlighted the risk of </a:t>
            </a:r>
            <a:r>
              <a:rPr b="0" i="1" lang="en-US" sz="1425" u="none" cap="none" strike="noStrike">
                <a:solidFill>
                  <a:srgbClr val="CBD5E1"/>
                </a:solidFill>
                <a:latin typeface="Manrope"/>
                <a:ea typeface="Manrope"/>
                <a:cs typeface="Manrope"/>
                <a:sym typeface="Manrope"/>
              </a:rPr>
              <a:t>confounding variables</a:t>
            </a:r>
            <a:r>
              <a:rPr b="0" i="0" lang="en-US" sz="1425" u="none" cap="none" strike="noStrike">
                <a:solidFill>
                  <a:srgbClr val="CBD5E1"/>
                </a:solidFill>
                <a:latin typeface="Manrope"/>
                <a:ea typeface="Manrope"/>
                <a:cs typeface="Manrope"/>
                <a:sym typeface="Manrope"/>
              </a:rPr>
              <a:t>—a key lesson for our project.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image.png" id="220" name="Google Shape;220;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1" name="Google Shape;221;p29"/>
          <p:cNvPicPr preferRelativeResize="0"/>
          <p:nvPr/>
        </p:nvPicPr>
        <p:blipFill rotWithShape="1">
          <a:blip r:embed="rId4">
            <a:alphaModFix/>
          </a:blip>
          <a:srcRect b="0" l="0" r="0" t="0"/>
          <a:stretch/>
        </p:blipFill>
        <p:spPr>
          <a:xfrm>
            <a:off x="581025" y="2242244"/>
            <a:ext cx="3517850" cy="3194298"/>
          </a:xfrm>
          <a:prstGeom prst="rect">
            <a:avLst/>
          </a:prstGeom>
          <a:noFill/>
          <a:ln>
            <a:noFill/>
          </a:ln>
        </p:spPr>
      </p:pic>
      <p:pic>
        <p:nvPicPr>
          <p:cNvPr descr="image.png" id="222" name="Google Shape;222;p29"/>
          <p:cNvPicPr preferRelativeResize="0"/>
          <p:nvPr/>
        </p:nvPicPr>
        <p:blipFill rotWithShape="1">
          <a:blip r:embed="rId5">
            <a:alphaModFix/>
          </a:blip>
          <a:srcRect b="0" l="0" r="0" t="0"/>
          <a:stretch/>
        </p:blipFill>
        <p:spPr>
          <a:xfrm>
            <a:off x="4337000" y="2242244"/>
            <a:ext cx="3517850" cy="3194298"/>
          </a:xfrm>
          <a:prstGeom prst="rect">
            <a:avLst/>
          </a:prstGeom>
          <a:noFill/>
          <a:ln>
            <a:noFill/>
          </a:ln>
        </p:spPr>
      </p:pic>
      <p:pic>
        <p:nvPicPr>
          <p:cNvPr descr="image.png" id="223" name="Google Shape;223;p29"/>
          <p:cNvPicPr preferRelativeResize="0"/>
          <p:nvPr/>
        </p:nvPicPr>
        <p:blipFill rotWithShape="1">
          <a:blip r:embed="rId5">
            <a:alphaModFix/>
          </a:blip>
          <a:srcRect b="0" l="0" r="0" t="0"/>
          <a:stretch/>
        </p:blipFill>
        <p:spPr>
          <a:xfrm>
            <a:off x="8092975" y="2242244"/>
            <a:ext cx="3517850" cy="3194298"/>
          </a:xfrm>
          <a:prstGeom prst="rect">
            <a:avLst/>
          </a:prstGeom>
          <a:noFill/>
          <a:ln>
            <a:noFill/>
          </a:ln>
        </p:spPr>
      </p:pic>
      <p:sp>
        <p:nvSpPr>
          <p:cNvPr id="224" name="Google Shape;224;p29"/>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Related Work: Modeling Foundations</a:t>
            </a:r>
            <a:endParaRPr/>
          </a:p>
        </p:txBody>
      </p:sp>
      <p:sp>
        <p:nvSpPr>
          <p:cNvPr id="225" name="Google Shape;225;p29"/>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6" name="Google Shape;226;p29"/>
          <p:cNvPicPr preferRelativeResize="0"/>
          <p:nvPr/>
        </p:nvPicPr>
        <p:blipFill rotWithShape="1">
          <a:blip r:embed="rId6">
            <a:alphaModFix/>
          </a:blip>
          <a:srcRect b="0" l="0" r="0" t="0"/>
          <a:stretch/>
        </p:blipFill>
        <p:spPr>
          <a:xfrm>
            <a:off x="2006500" y="2489894"/>
            <a:ext cx="666750" cy="666750"/>
          </a:xfrm>
          <a:prstGeom prst="rect">
            <a:avLst/>
          </a:prstGeom>
          <a:noFill/>
          <a:ln>
            <a:noFill/>
          </a:ln>
        </p:spPr>
      </p:pic>
      <p:sp>
        <p:nvSpPr>
          <p:cNvPr id="227" name="Google Shape;227;p29"/>
          <p:cNvSpPr txBox="1"/>
          <p:nvPr/>
        </p:nvSpPr>
        <p:spPr>
          <a:xfrm>
            <a:off x="753111" y="3347144"/>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XLM-ROBERTa</a:t>
            </a:r>
            <a:endParaRPr/>
          </a:p>
        </p:txBody>
      </p:sp>
      <p:sp>
        <p:nvSpPr>
          <p:cNvPr id="228" name="Google Shape;228;p29"/>
          <p:cNvSpPr txBox="1"/>
          <p:nvPr/>
        </p:nvSpPr>
        <p:spPr>
          <a:xfrm>
            <a:off x="828675" y="3771900"/>
            <a:ext cx="3022550"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Conneau et al.</a:t>
            </a:r>
            <a:r>
              <a:rPr b="0" i="0" lang="en-US" sz="1425" u="none" cap="none" strike="noStrike">
                <a:solidFill>
                  <a:srgbClr val="CBD5E1"/>
                </a:solidFill>
                <a:latin typeface="Manrope"/>
                <a:ea typeface="Manrope"/>
                <a:cs typeface="Manrope"/>
                <a:sym typeface="Manrope"/>
              </a:rPr>
              <a:t> showed that scaling multilingual pretraining improves cross-lingual transfer.</a:t>
            </a:r>
            <a:endParaRPr/>
          </a:p>
        </p:txBody>
      </p:sp>
      <p:pic>
        <p:nvPicPr>
          <p:cNvPr descr="image.png" id="229" name="Google Shape;229;p29"/>
          <p:cNvPicPr preferRelativeResize="0"/>
          <p:nvPr/>
        </p:nvPicPr>
        <p:blipFill rotWithShape="1">
          <a:blip r:embed="rId7">
            <a:alphaModFix/>
          </a:blip>
          <a:srcRect b="0" l="0" r="0" t="0"/>
          <a:stretch/>
        </p:blipFill>
        <p:spPr>
          <a:xfrm>
            <a:off x="828675" y="4754612"/>
            <a:ext cx="3022550" cy="319980"/>
          </a:xfrm>
          <a:prstGeom prst="rect">
            <a:avLst/>
          </a:prstGeom>
          <a:noFill/>
          <a:ln>
            <a:noFill/>
          </a:ln>
        </p:spPr>
      </p:pic>
      <p:pic>
        <p:nvPicPr>
          <p:cNvPr descr="image.png" id="230" name="Google Shape;230;p29"/>
          <p:cNvPicPr preferRelativeResize="0"/>
          <p:nvPr/>
        </p:nvPicPr>
        <p:blipFill rotWithShape="1">
          <a:blip r:embed="rId8">
            <a:alphaModFix/>
          </a:blip>
          <a:srcRect b="0" l="0" r="0" t="0"/>
          <a:stretch/>
        </p:blipFill>
        <p:spPr>
          <a:xfrm>
            <a:off x="5762476" y="2489894"/>
            <a:ext cx="666750" cy="666750"/>
          </a:xfrm>
          <a:prstGeom prst="rect">
            <a:avLst/>
          </a:prstGeom>
          <a:noFill/>
          <a:ln>
            <a:noFill/>
          </a:ln>
        </p:spPr>
      </p:pic>
      <p:sp>
        <p:nvSpPr>
          <p:cNvPr id="231" name="Google Shape;231;p29"/>
          <p:cNvSpPr txBox="1"/>
          <p:nvPr/>
        </p:nvSpPr>
        <p:spPr>
          <a:xfrm>
            <a:off x="4509086" y="3347144"/>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Knowledge Distillation</a:t>
            </a:r>
            <a:endParaRPr/>
          </a:p>
        </p:txBody>
      </p:sp>
      <p:sp>
        <p:nvSpPr>
          <p:cNvPr id="232" name="Google Shape;232;p29"/>
          <p:cNvSpPr txBox="1"/>
          <p:nvPr/>
        </p:nvSpPr>
        <p:spPr>
          <a:xfrm>
            <a:off x="4584650" y="3771900"/>
            <a:ext cx="3022550" cy="115788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Hinton et al. (2015)</a:t>
            </a:r>
            <a:r>
              <a:rPr b="0" i="0" lang="en-US" sz="1425" u="none" cap="none" strike="noStrike">
                <a:solidFill>
                  <a:srgbClr val="CBD5E1"/>
                </a:solidFill>
                <a:latin typeface="Manrope"/>
                <a:ea typeface="Manrope"/>
                <a:cs typeface="Manrope"/>
                <a:sym typeface="Manrope"/>
              </a:rPr>
              <a:t> formalized Teacher-Student distillation. </a:t>
            </a:r>
            <a:r>
              <a:rPr b="1" i="0" lang="en-US" sz="1425" u="none" cap="none" strike="noStrike">
                <a:solidFill>
                  <a:srgbClr val="CBD5E1"/>
                </a:solidFill>
                <a:latin typeface="Manrope"/>
                <a:ea typeface="Manrope"/>
                <a:cs typeface="Manrope"/>
                <a:sym typeface="Manrope"/>
              </a:rPr>
              <a:t>Zhang et al. (2023)</a:t>
            </a:r>
            <a:r>
              <a:rPr b="0" i="0" lang="en-US" sz="1425" u="none" cap="none" strike="noStrike">
                <a:solidFill>
                  <a:srgbClr val="CBD5E1"/>
                </a:solidFill>
                <a:latin typeface="Manrope"/>
                <a:ea typeface="Manrope"/>
                <a:cs typeface="Manrope"/>
                <a:sym typeface="Manrope"/>
              </a:rPr>
              <a:t> applied this to cross-lingual stance detection.</a:t>
            </a:r>
            <a:endParaRPr/>
          </a:p>
        </p:txBody>
      </p:sp>
      <p:pic>
        <p:nvPicPr>
          <p:cNvPr descr="image.png" id="233" name="Google Shape;233;p29"/>
          <p:cNvPicPr preferRelativeResize="0"/>
          <p:nvPr/>
        </p:nvPicPr>
        <p:blipFill rotWithShape="1">
          <a:blip r:embed="rId9">
            <a:alphaModFix/>
          </a:blip>
          <a:srcRect b="0" l="0" r="0" t="0"/>
          <a:stretch/>
        </p:blipFill>
        <p:spPr>
          <a:xfrm>
            <a:off x="9518451" y="2489894"/>
            <a:ext cx="666750" cy="666750"/>
          </a:xfrm>
          <a:prstGeom prst="rect">
            <a:avLst/>
          </a:prstGeom>
          <a:noFill/>
          <a:ln>
            <a:noFill/>
          </a:ln>
        </p:spPr>
      </p:pic>
      <p:sp>
        <p:nvSpPr>
          <p:cNvPr id="234" name="Google Shape;234;p29"/>
          <p:cNvSpPr txBox="1"/>
          <p:nvPr/>
        </p:nvSpPr>
        <p:spPr>
          <a:xfrm>
            <a:off x="8265062" y="3347144"/>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BERTopic</a:t>
            </a:r>
            <a:endParaRPr/>
          </a:p>
        </p:txBody>
      </p:sp>
      <p:sp>
        <p:nvSpPr>
          <p:cNvPr id="235" name="Google Shape;235;p29"/>
          <p:cNvSpPr txBox="1"/>
          <p:nvPr/>
        </p:nvSpPr>
        <p:spPr>
          <a:xfrm>
            <a:off x="8340625" y="3771900"/>
            <a:ext cx="3022550" cy="115788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Grootendorst (2022)</a:t>
            </a:r>
            <a:r>
              <a:rPr b="0" i="0" lang="en-US" sz="1425" u="none" cap="none" strike="noStrike">
                <a:solidFill>
                  <a:srgbClr val="CBD5E1"/>
                </a:solidFill>
                <a:latin typeface="Manrope"/>
                <a:ea typeface="Manrope"/>
                <a:cs typeface="Manrope"/>
                <a:sym typeface="Manrope"/>
              </a:rPr>
              <a:t>: extracting topics using Transformer embeddings. Used in our (failed) Teacher B experiment.</a:t>
            </a:r>
            <a:endParaRPr/>
          </a:p>
        </p:txBody>
      </p:sp>
      <p:pic>
        <p:nvPicPr>
          <p:cNvPr descr="image.png" id="236" name="Google Shape;236;p29"/>
          <p:cNvPicPr preferRelativeResize="0"/>
          <p:nvPr/>
        </p:nvPicPr>
        <p:blipFill rotWithShape="1">
          <a:blip r:embed="rId10">
            <a:alphaModFix/>
          </a:blip>
          <a:srcRect b="0" l="0" r="0" t="0"/>
          <a:stretch/>
        </p:blipFill>
        <p:spPr>
          <a:xfrm>
            <a:off x="2149375" y="2632769"/>
            <a:ext cx="381000" cy="381000"/>
          </a:xfrm>
          <a:prstGeom prst="rect">
            <a:avLst/>
          </a:prstGeom>
          <a:noFill/>
          <a:ln>
            <a:noFill/>
          </a:ln>
        </p:spPr>
      </p:pic>
      <p:pic>
        <p:nvPicPr>
          <p:cNvPr descr="image.png" id="237" name="Google Shape;237;p29"/>
          <p:cNvPicPr preferRelativeResize="0"/>
          <p:nvPr/>
        </p:nvPicPr>
        <p:blipFill rotWithShape="1">
          <a:blip r:embed="rId11">
            <a:alphaModFix/>
          </a:blip>
          <a:srcRect b="0" l="0" r="0" t="0"/>
          <a:stretch/>
        </p:blipFill>
        <p:spPr>
          <a:xfrm>
            <a:off x="5857726" y="2632769"/>
            <a:ext cx="476250" cy="381000"/>
          </a:xfrm>
          <a:prstGeom prst="rect">
            <a:avLst/>
          </a:prstGeom>
          <a:noFill/>
          <a:ln>
            <a:noFill/>
          </a:ln>
        </p:spPr>
      </p:pic>
      <p:pic>
        <p:nvPicPr>
          <p:cNvPr descr="image.png" id="238" name="Google Shape;238;p29"/>
          <p:cNvPicPr preferRelativeResize="0"/>
          <p:nvPr/>
        </p:nvPicPr>
        <p:blipFill rotWithShape="1">
          <a:blip r:embed="rId12">
            <a:alphaModFix/>
          </a:blip>
          <a:srcRect b="0" l="0" r="0" t="0"/>
          <a:stretch/>
        </p:blipFill>
        <p:spPr>
          <a:xfrm>
            <a:off x="9637514" y="2632769"/>
            <a:ext cx="428625" cy="38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image.png" id="243" name="Google Shape;24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4" name="Google Shape;244;p30"/>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Dataset &amp; Reproducibility</a:t>
            </a:r>
            <a:endParaRPr/>
          </a:p>
        </p:txBody>
      </p:sp>
      <p:sp>
        <p:nvSpPr>
          <p:cNvPr id="245" name="Google Shape;245;p30"/>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30"/>
          <p:cNvSpPr txBox="1"/>
          <p:nvPr/>
        </p:nvSpPr>
        <p:spPr>
          <a:xfrm>
            <a:off x="523875" y="1070978"/>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POLAR Dataset</a:t>
            </a:r>
            <a:endParaRPr/>
          </a:p>
        </p:txBody>
      </p:sp>
      <p:sp>
        <p:nvSpPr>
          <p:cNvPr id="247" name="Google Shape;247;p30"/>
          <p:cNvSpPr txBox="1"/>
          <p:nvPr/>
        </p:nvSpPr>
        <p:spPr>
          <a:xfrm>
            <a:off x="581025" y="1516550"/>
            <a:ext cx="5900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used the official training </a:t>
            </a:r>
            <a:r>
              <a:rPr lang="en-US" sz="1425">
                <a:solidFill>
                  <a:srgbClr val="CBD5E1"/>
                </a:solidFill>
                <a:latin typeface="Manrope"/>
                <a:ea typeface="Manrope"/>
                <a:cs typeface="Manrope"/>
                <a:sym typeface="Manrope"/>
              </a:rPr>
              <a:t>folder (it included 22 languages files, then we </a:t>
            </a:r>
            <a:r>
              <a:rPr lang="en-US" sz="1425">
                <a:solidFill>
                  <a:srgbClr val="CBD5E1"/>
                </a:solidFill>
                <a:latin typeface="Manrope"/>
                <a:ea typeface="Manrope"/>
                <a:cs typeface="Manrope"/>
                <a:sym typeface="Manrope"/>
              </a:rPr>
              <a:t>merged</a:t>
            </a:r>
            <a:r>
              <a:rPr lang="en-US" sz="1425">
                <a:solidFill>
                  <a:srgbClr val="CBD5E1"/>
                </a:solidFill>
                <a:latin typeface="Manrope"/>
                <a:ea typeface="Manrope"/>
                <a:cs typeface="Manrope"/>
                <a:sym typeface="Manrope"/>
              </a:rPr>
              <a:t> them into one dataset</a:t>
            </a:r>
            <a:r>
              <a:rPr b="0" i="0" lang="en-US" sz="1425" u="none" cap="none" strike="noStrike">
                <a:solidFill>
                  <a:srgbClr val="CBD5E1"/>
                </a:solidFill>
                <a:latin typeface="Manrope"/>
                <a:ea typeface="Manrope"/>
                <a:cs typeface="Manrope"/>
                <a:sym typeface="Manrope"/>
              </a:rPr>
              <a:t> (master_dataset.csv).</a:t>
            </a:r>
            <a:endParaRPr/>
          </a:p>
        </p:txBody>
      </p:sp>
      <p:sp>
        <p:nvSpPr>
          <p:cNvPr id="248" name="Google Shape;248;p30"/>
          <p:cNvSpPr txBox="1"/>
          <p:nvPr/>
        </p:nvSpPr>
        <p:spPr>
          <a:xfrm>
            <a:off x="581100" y="5874666"/>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Key Constraint:</a:t>
            </a:r>
            <a:r>
              <a:rPr b="0" i="0" lang="en-US" sz="1425" u="none" cap="none" strike="noStrike">
                <a:solidFill>
                  <a:srgbClr val="CBD5E1"/>
                </a:solidFill>
                <a:latin typeface="Manrope"/>
                <a:ea typeface="Manrope"/>
                <a:cs typeface="Manrope"/>
                <a:sym typeface="Manrope"/>
              </a:rPr>
              <a:t> The official dev set was unlabeled. We created an internal validation split.</a:t>
            </a:r>
            <a:endParaRPr/>
          </a:p>
        </p:txBody>
      </p:sp>
      <p:sp>
        <p:nvSpPr>
          <p:cNvPr id="249" name="Google Shape;249;p30"/>
          <p:cNvSpPr txBox="1"/>
          <p:nvPr/>
        </p:nvSpPr>
        <p:spPr>
          <a:xfrm>
            <a:off x="581100" y="4929304"/>
            <a:ext cx="50484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Total Rows:</a:t>
            </a:r>
            <a:r>
              <a:rPr b="0" i="0" lang="en-US" sz="1425" u="none" cap="none" strike="noStrike">
                <a:solidFill>
                  <a:srgbClr val="CBD5E1"/>
                </a:solidFill>
                <a:latin typeface="Manrope"/>
                <a:ea typeface="Manrope"/>
                <a:cs typeface="Manrope"/>
                <a:sym typeface="Manrope"/>
              </a:rPr>
              <a:t> 77,368</a:t>
            </a:r>
            <a:endParaRPr/>
          </a:p>
        </p:txBody>
      </p:sp>
      <p:sp>
        <p:nvSpPr>
          <p:cNvPr id="250" name="Google Shape;250;p30"/>
          <p:cNvSpPr txBox="1"/>
          <p:nvPr/>
        </p:nvSpPr>
        <p:spPr>
          <a:xfrm>
            <a:off x="581100" y="5244425"/>
            <a:ext cx="50484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Train Split Used:</a:t>
            </a:r>
            <a:r>
              <a:rPr b="0" i="0" lang="en-US" sz="1425" u="none" cap="none" strike="noStrike">
                <a:solidFill>
                  <a:srgbClr val="CBD5E1"/>
                </a:solidFill>
                <a:latin typeface="Manrope"/>
                <a:ea typeface="Manrope"/>
                <a:cs typeface="Manrope"/>
                <a:sym typeface="Manrope"/>
              </a:rPr>
              <a:t> 73,681 rows</a:t>
            </a:r>
            <a:endParaRPr/>
          </a:p>
        </p:txBody>
      </p:sp>
      <p:sp>
        <p:nvSpPr>
          <p:cNvPr id="251" name="Google Shape;251;p30"/>
          <p:cNvSpPr txBox="1"/>
          <p:nvPr/>
        </p:nvSpPr>
        <p:spPr>
          <a:xfrm>
            <a:off x="581100" y="5540320"/>
            <a:ext cx="50484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Languages:</a:t>
            </a:r>
            <a:r>
              <a:rPr b="0" i="0" lang="en-US" sz="1425" u="none" cap="none" strike="noStrike">
                <a:solidFill>
                  <a:srgbClr val="CBD5E1"/>
                </a:solidFill>
                <a:latin typeface="Manrope"/>
                <a:ea typeface="Manrope"/>
                <a:cs typeface="Manrope"/>
                <a:sym typeface="Manrope"/>
              </a:rPr>
              <a:t> 22 distinct languages</a:t>
            </a:r>
            <a:endParaRPr/>
          </a:p>
        </p:txBody>
      </p:sp>
      <p:sp>
        <p:nvSpPr>
          <p:cNvPr id="252" name="Google Shape;252;p30"/>
          <p:cNvSpPr txBox="1"/>
          <p:nvPr/>
        </p:nvSpPr>
        <p:spPr>
          <a:xfrm>
            <a:off x="361863" y="5205867"/>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253" name="Google Shape;253;p30"/>
          <p:cNvSpPr txBox="1"/>
          <p:nvPr/>
        </p:nvSpPr>
        <p:spPr>
          <a:xfrm>
            <a:off x="361875" y="4900338"/>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254" name="Google Shape;254;p30"/>
          <p:cNvSpPr txBox="1"/>
          <p:nvPr/>
        </p:nvSpPr>
        <p:spPr>
          <a:xfrm>
            <a:off x="361875" y="5511383"/>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pic>
        <p:nvPicPr>
          <p:cNvPr id="255" name="Google Shape;255;p30" title="img2.png"/>
          <p:cNvPicPr preferRelativeResize="0"/>
          <p:nvPr/>
        </p:nvPicPr>
        <p:blipFill>
          <a:blip r:embed="rId4">
            <a:alphaModFix/>
          </a:blip>
          <a:stretch>
            <a:fillRect/>
          </a:stretch>
        </p:blipFill>
        <p:spPr>
          <a:xfrm>
            <a:off x="6985300" y="1769300"/>
            <a:ext cx="5054091" cy="3694425"/>
          </a:xfrm>
          <a:prstGeom prst="rect">
            <a:avLst/>
          </a:prstGeom>
          <a:noFill/>
          <a:ln>
            <a:noFill/>
          </a:ln>
        </p:spPr>
      </p:pic>
      <p:pic>
        <p:nvPicPr>
          <p:cNvPr id="256" name="Google Shape;256;p30" title="img1.png"/>
          <p:cNvPicPr preferRelativeResize="0"/>
          <p:nvPr/>
        </p:nvPicPr>
        <p:blipFill>
          <a:blip r:embed="rId5">
            <a:alphaModFix/>
          </a:blip>
          <a:stretch>
            <a:fillRect/>
          </a:stretch>
        </p:blipFill>
        <p:spPr>
          <a:xfrm>
            <a:off x="523863" y="2286350"/>
            <a:ext cx="6238074" cy="244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image.png" id="261" name="Google Shape;261;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31"/>
          <p:cNvPicPr preferRelativeResize="0"/>
          <p:nvPr/>
        </p:nvPicPr>
        <p:blipFill rotWithShape="1">
          <a:blip r:embed="rId4">
            <a:alphaModFix/>
          </a:blip>
          <a:srcRect b="0" l="0" r="0" t="0"/>
          <a:stretch/>
        </p:blipFill>
        <p:spPr>
          <a:xfrm>
            <a:off x="581025" y="2602259"/>
            <a:ext cx="3517850" cy="3163788"/>
          </a:xfrm>
          <a:prstGeom prst="rect">
            <a:avLst/>
          </a:prstGeom>
          <a:noFill/>
          <a:ln>
            <a:noFill/>
          </a:ln>
        </p:spPr>
      </p:pic>
      <p:pic>
        <p:nvPicPr>
          <p:cNvPr descr="image.png" id="263" name="Google Shape;263;p31"/>
          <p:cNvPicPr preferRelativeResize="0"/>
          <p:nvPr/>
        </p:nvPicPr>
        <p:blipFill rotWithShape="1">
          <a:blip r:embed="rId5">
            <a:alphaModFix/>
          </a:blip>
          <a:srcRect b="0" l="0" r="0" t="0"/>
          <a:stretch/>
        </p:blipFill>
        <p:spPr>
          <a:xfrm>
            <a:off x="4337000" y="2602259"/>
            <a:ext cx="3517850" cy="3163788"/>
          </a:xfrm>
          <a:prstGeom prst="rect">
            <a:avLst/>
          </a:prstGeom>
          <a:noFill/>
          <a:ln>
            <a:noFill/>
          </a:ln>
        </p:spPr>
      </p:pic>
      <p:pic>
        <p:nvPicPr>
          <p:cNvPr descr="image.png" id="264" name="Google Shape;264;p31"/>
          <p:cNvPicPr preferRelativeResize="0"/>
          <p:nvPr/>
        </p:nvPicPr>
        <p:blipFill rotWithShape="1">
          <a:blip r:embed="rId5">
            <a:alphaModFix/>
          </a:blip>
          <a:srcRect b="0" l="0" r="0" t="0"/>
          <a:stretch/>
        </p:blipFill>
        <p:spPr>
          <a:xfrm>
            <a:off x="8092975" y="2602259"/>
            <a:ext cx="3517850" cy="3163788"/>
          </a:xfrm>
          <a:prstGeom prst="rect">
            <a:avLst/>
          </a:prstGeom>
          <a:noFill/>
          <a:ln>
            <a:noFill/>
          </a:ln>
        </p:spPr>
      </p:pic>
      <p:sp>
        <p:nvSpPr>
          <p:cNvPr id="265" name="Google Shape;265;p31"/>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The Translation Pipeline</a:t>
            </a:r>
            <a:endParaRPr/>
          </a:p>
        </p:txBody>
      </p:sp>
      <p:sp>
        <p:nvSpPr>
          <p:cNvPr id="266" name="Google Shape;266;p31"/>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31"/>
          <p:cNvSpPr txBox="1"/>
          <p:nvPr/>
        </p:nvSpPr>
        <p:spPr>
          <a:xfrm>
            <a:off x="581025" y="1912739"/>
            <a:ext cx="110299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Goal:</a:t>
            </a:r>
            <a:r>
              <a:rPr b="0" i="0" lang="en-US" sz="1425" u="none" cap="none" strike="noStrike">
                <a:solidFill>
                  <a:srgbClr val="CBD5E1"/>
                </a:solidFill>
                <a:latin typeface="Manrope"/>
                <a:ea typeface="Manrope"/>
                <a:cs typeface="Manrope"/>
                <a:sym typeface="Manrope"/>
              </a:rPr>
              <a:t> Create a column to allow the Teacher (trained on 7 langs) to supervise all 22 langs.</a:t>
            </a:r>
            <a:endParaRPr/>
          </a:p>
        </p:txBody>
      </p:sp>
      <p:pic>
        <p:nvPicPr>
          <p:cNvPr descr="image.png" id="268" name="Google Shape;268;p31"/>
          <p:cNvPicPr preferRelativeResize="0"/>
          <p:nvPr/>
        </p:nvPicPr>
        <p:blipFill rotWithShape="1">
          <a:blip r:embed="rId6">
            <a:alphaModFix/>
          </a:blip>
          <a:srcRect b="0" l="0" r="0" t="0"/>
          <a:stretch/>
        </p:blipFill>
        <p:spPr>
          <a:xfrm>
            <a:off x="5562525" y="5036639"/>
            <a:ext cx="819150" cy="276225"/>
          </a:xfrm>
          <a:prstGeom prst="rect">
            <a:avLst/>
          </a:prstGeom>
          <a:noFill/>
          <a:ln>
            <a:noFill/>
          </a:ln>
        </p:spPr>
      </p:pic>
      <p:pic>
        <p:nvPicPr>
          <p:cNvPr descr="image.png" id="269" name="Google Shape;269;p31"/>
          <p:cNvPicPr preferRelativeResize="0"/>
          <p:nvPr/>
        </p:nvPicPr>
        <p:blipFill rotWithShape="1">
          <a:blip r:embed="rId7">
            <a:alphaModFix/>
          </a:blip>
          <a:srcRect b="0" l="0" r="0" t="0"/>
          <a:stretch/>
        </p:blipFill>
        <p:spPr>
          <a:xfrm>
            <a:off x="2006500" y="2849909"/>
            <a:ext cx="666750" cy="666750"/>
          </a:xfrm>
          <a:prstGeom prst="rect">
            <a:avLst/>
          </a:prstGeom>
          <a:noFill/>
          <a:ln>
            <a:noFill/>
          </a:ln>
        </p:spPr>
      </p:pic>
      <p:sp>
        <p:nvSpPr>
          <p:cNvPr id="270" name="Google Shape;270;p31"/>
          <p:cNvSpPr txBox="1"/>
          <p:nvPr/>
        </p:nvSpPr>
        <p:spPr>
          <a:xfrm>
            <a:off x="753111" y="3707159"/>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Parallel Sharding</a:t>
            </a:r>
            <a:endParaRPr/>
          </a:p>
        </p:txBody>
      </p:sp>
      <p:sp>
        <p:nvSpPr>
          <p:cNvPr id="271" name="Google Shape;271;p31"/>
          <p:cNvSpPr txBox="1"/>
          <p:nvPr/>
        </p:nvSpPr>
        <p:spPr>
          <a:xfrm>
            <a:off x="828675" y="4131915"/>
            <a:ext cx="3022550"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Distributed across </a:t>
            </a:r>
            <a:r>
              <a:rPr b="1" i="0" lang="en-US" sz="1425" u="none" cap="none" strike="noStrike">
                <a:solidFill>
                  <a:srgbClr val="CBD5E1"/>
                </a:solidFill>
                <a:latin typeface="Manrope"/>
                <a:ea typeface="Manrope"/>
                <a:cs typeface="Manrope"/>
                <a:sym typeface="Manrope"/>
              </a:rPr>
              <a:t>5 team members</a:t>
            </a:r>
            <a:r>
              <a:rPr b="0" i="0" lang="en-US" sz="1425" u="none" cap="none" strike="noStrike">
                <a:solidFill>
                  <a:srgbClr val="CBD5E1"/>
                </a:solidFill>
                <a:latin typeface="Manrope"/>
                <a:ea typeface="Manrope"/>
                <a:cs typeface="Manrope"/>
                <a:sym typeface="Manrope"/>
              </a:rPr>
              <a:t> × 2 sessions.</a:t>
            </a:r>
            <a:endParaRPr/>
          </a:p>
        </p:txBody>
      </p:sp>
      <p:sp>
        <p:nvSpPr>
          <p:cNvPr id="272" name="Google Shape;272;p31"/>
          <p:cNvSpPr txBox="1"/>
          <p:nvPr/>
        </p:nvSpPr>
        <p:spPr>
          <a:xfrm>
            <a:off x="828675" y="4825156"/>
            <a:ext cx="30225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Split via logic.</a:t>
            </a:r>
            <a:endParaRPr/>
          </a:p>
        </p:txBody>
      </p:sp>
      <p:pic>
        <p:nvPicPr>
          <p:cNvPr descr="image.png" id="273" name="Google Shape;273;p31"/>
          <p:cNvPicPr preferRelativeResize="0"/>
          <p:nvPr/>
        </p:nvPicPr>
        <p:blipFill rotWithShape="1">
          <a:blip r:embed="rId8">
            <a:alphaModFix/>
          </a:blip>
          <a:srcRect b="0" l="0" r="0" t="0"/>
          <a:stretch/>
        </p:blipFill>
        <p:spPr>
          <a:xfrm>
            <a:off x="5762476" y="2849909"/>
            <a:ext cx="666750" cy="666750"/>
          </a:xfrm>
          <a:prstGeom prst="rect">
            <a:avLst/>
          </a:prstGeom>
          <a:noFill/>
          <a:ln>
            <a:noFill/>
          </a:ln>
        </p:spPr>
      </p:pic>
      <p:sp>
        <p:nvSpPr>
          <p:cNvPr id="274" name="Google Shape;274;p31"/>
          <p:cNvSpPr txBox="1"/>
          <p:nvPr/>
        </p:nvSpPr>
        <p:spPr>
          <a:xfrm>
            <a:off x="4509086" y="3707159"/>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Logic</a:t>
            </a:r>
            <a:endParaRPr/>
          </a:p>
        </p:txBody>
      </p:sp>
      <p:sp>
        <p:nvSpPr>
          <p:cNvPr id="275" name="Google Shape;275;p31"/>
          <p:cNvSpPr txBox="1"/>
          <p:nvPr/>
        </p:nvSpPr>
        <p:spPr>
          <a:xfrm>
            <a:off x="4584650" y="4131915"/>
            <a:ext cx="30225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If lang is in Teacher set → Copy text.</a:t>
            </a:r>
            <a:endParaRPr/>
          </a:p>
        </p:txBody>
      </p:sp>
      <p:sp>
        <p:nvSpPr>
          <p:cNvPr id="276" name="Google Shape;276;p31"/>
          <p:cNvSpPr txBox="1"/>
          <p:nvPr/>
        </p:nvSpPr>
        <p:spPr>
          <a:xfrm>
            <a:off x="4584650" y="4535685"/>
            <a:ext cx="30225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Else → Translate to English.</a:t>
            </a:r>
            <a:endParaRPr/>
          </a:p>
        </p:txBody>
      </p:sp>
      <p:pic>
        <p:nvPicPr>
          <p:cNvPr descr="image.png" id="277" name="Google Shape;277;p31"/>
          <p:cNvPicPr preferRelativeResize="0"/>
          <p:nvPr/>
        </p:nvPicPr>
        <p:blipFill rotWithShape="1">
          <a:blip r:embed="rId9">
            <a:alphaModFix/>
          </a:blip>
          <a:srcRect b="0" l="0" r="0" t="0"/>
          <a:stretch/>
        </p:blipFill>
        <p:spPr>
          <a:xfrm>
            <a:off x="9518451" y="2849909"/>
            <a:ext cx="666750" cy="666750"/>
          </a:xfrm>
          <a:prstGeom prst="rect">
            <a:avLst/>
          </a:prstGeom>
          <a:noFill/>
          <a:ln>
            <a:noFill/>
          </a:ln>
        </p:spPr>
      </p:pic>
      <p:sp>
        <p:nvSpPr>
          <p:cNvPr id="278" name="Google Shape;278;p31"/>
          <p:cNvSpPr txBox="1"/>
          <p:nvPr/>
        </p:nvSpPr>
        <p:spPr>
          <a:xfrm>
            <a:off x="8265062" y="3707159"/>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Failure Handling</a:t>
            </a:r>
            <a:endParaRPr/>
          </a:p>
        </p:txBody>
      </p:sp>
      <p:sp>
        <p:nvSpPr>
          <p:cNvPr id="279" name="Google Shape;279;p31"/>
          <p:cNvSpPr txBox="1"/>
          <p:nvPr/>
        </p:nvSpPr>
        <p:spPr>
          <a:xfrm>
            <a:off x="8340625" y="4131915"/>
            <a:ext cx="3022550"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5,768 rows</a:t>
            </a:r>
            <a:r>
              <a:rPr b="0" i="0" lang="en-US" sz="1425" u="none" cap="none" strike="noStrike">
                <a:solidFill>
                  <a:srgbClr val="CBD5E1"/>
                </a:solidFill>
                <a:latin typeface="Manrope"/>
                <a:ea typeface="Manrope"/>
                <a:cs typeface="Manrope"/>
                <a:sym typeface="Manrope"/>
              </a:rPr>
              <a:t> failed translation (rate limits/markers).</a:t>
            </a:r>
            <a:endParaRPr/>
          </a:p>
        </p:txBody>
      </p:sp>
      <p:sp>
        <p:nvSpPr>
          <p:cNvPr id="280" name="Google Shape;280;p31"/>
          <p:cNvSpPr txBox="1"/>
          <p:nvPr/>
        </p:nvSpPr>
        <p:spPr>
          <a:xfrm>
            <a:off x="8340625" y="4825156"/>
            <a:ext cx="3022550"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Strategy:</a:t>
            </a:r>
            <a:r>
              <a:rPr b="0" i="0" lang="en-US" sz="1425" u="none" cap="none" strike="noStrike">
                <a:solidFill>
                  <a:srgbClr val="CBD5E1"/>
                </a:solidFill>
                <a:latin typeface="Manrope"/>
                <a:ea typeface="Manrope"/>
                <a:cs typeface="Manrope"/>
                <a:sym typeface="Manrope"/>
              </a:rPr>
              <a:t> Retain rows, use hard labels only.</a:t>
            </a:r>
            <a:endParaRPr/>
          </a:p>
        </p:txBody>
      </p:sp>
      <p:pic>
        <p:nvPicPr>
          <p:cNvPr descr="image.png" id="281" name="Google Shape;281;p31"/>
          <p:cNvPicPr preferRelativeResize="0"/>
          <p:nvPr/>
        </p:nvPicPr>
        <p:blipFill rotWithShape="1">
          <a:blip r:embed="rId10">
            <a:alphaModFix/>
          </a:blip>
          <a:srcRect b="0" l="0" r="0" t="0"/>
          <a:stretch/>
        </p:blipFill>
        <p:spPr>
          <a:xfrm>
            <a:off x="2101750" y="2992784"/>
            <a:ext cx="476250" cy="381000"/>
          </a:xfrm>
          <a:prstGeom prst="rect">
            <a:avLst/>
          </a:prstGeom>
          <a:noFill/>
          <a:ln>
            <a:noFill/>
          </a:ln>
        </p:spPr>
      </p:pic>
      <p:pic>
        <p:nvPicPr>
          <p:cNvPr descr="image.png" id="282" name="Google Shape;282;p31"/>
          <p:cNvPicPr preferRelativeResize="0"/>
          <p:nvPr/>
        </p:nvPicPr>
        <p:blipFill rotWithShape="1">
          <a:blip r:embed="rId11">
            <a:alphaModFix/>
          </a:blip>
          <a:srcRect b="0" l="0" r="0" t="0"/>
          <a:stretch/>
        </p:blipFill>
        <p:spPr>
          <a:xfrm>
            <a:off x="1787425" y="5114631"/>
            <a:ext cx="1104900" cy="276225"/>
          </a:xfrm>
          <a:prstGeom prst="rect">
            <a:avLst/>
          </a:prstGeom>
          <a:noFill/>
          <a:ln>
            <a:noFill/>
          </a:ln>
        </p:spPr>
      </p:pic>
      <p:pic>
        <p:nvPicPr>
          <p:cNvPr descr="image.png" id="283" name="Google Shape;283;p31"/>
          <p:cNvPicPr preferRelativeResize="0"/>
          <p:nvPr/>
        </p:nvPicPr>
        <p:blipFill rotWithShape="1">
          <a:blip r:embed="rId12">
            <a:alphaModFix/>
          </a:blip>
          <a:srcRect b="0" l="0" r="0" t="0"/>
          <a:stretch/>
        </p:blipFill>
        <p:spPr>
          <a:xfrm>
            <a:off x="5857726" y="2992784"/>
            <a:ext cx="476250" cy="381000"/>
          </a:xfrm>
          <a:prstGeom prst="rect">
            <a:avLst/>
          </a:prstGeom>
          <a:noFill/>
          <a:ln>
            <a:noFill/>
          </a:ln>
        </p:spPr>
      </p:pic>
      <p:pic>
        <p:nvPicPr>
          <p:cNvPr descr="image.png" id="284" name="Google Shape;284;p31"/>
          <p:cNvPicPr preferRelativeResize="0"/>
          <p:nvPr/>
        </p:nvPicPr>
        <p:blipFill rotWithShape="1">
          <a:blip r:embed="rId13">
            <a:alphaModFix/>
          </a:blip>
          <a:srcRect b="0" l="0" r="0" t="0"/>
          <a:stretch/>
        </p:blipFill>
        <p:spPr>
          <a:xfrm>
            <a:off x="9661326" y="2992784"/>
            <a:ext cx="381000" cy="38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image.png" id="289" name="Google Shape;289;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0" name="Google Shape;290;p32"/>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Synthetic Data (Phase 1)</a:t>
            </a:r>
            <a:endParaRPr/>
          </a:p>
        </p:txBody>
      </p:sp>
      <p:sp>
        <p:nvSpPr>
          <p:cNvPr id="291" name="Google Shape;291;p32"/>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32"/>
          <p:cNvSpPr txBox="1"/>
          <p:nvPr/>
        </p:nvSpPr>
        <p:spPr>
          <a:xfrm>
            <a:off x="581025" y="2674739"/>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Augmentation Strategy</a:t>
            </a:r>
            <a:endParaRPr/>
          </a:p>
        </p:txBody>
      </p:sp>
      <p:sp>
        <p:nvSpPr>
          <p:cNvPr id="293" name="Google Shape;293;p32"/>
          <p:cNvSpPr txBox="1"/>
          <p:nvPr/>
        </p:nvSpPr>
        <p:spPr>
          <a:xfrm>
            <a:off x="581025" y="3099494"/>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To strengthen the Teacher model, we generated synthetic examples focusing on the </a:t>
            </a:r>
            <a:r>
              <a:rPr b="1" i="0" lang="en-US" sz="1425" u="none" cap="none" strike="noStrike">
                <a:solidFill>
                  <a:srgbClr val="CBD5E1"/>
                </a:solidFill>
                <a:latin typeface="Manrope"/>
                <a:ea typeface="Manrope"/>
                <a:cs typeface="Manrope"/>
                <a:sym typeface="Manrope"/>
              </a:rPr>
              <a:t>polarized</a:t>
            </a:r>
            <a:r>
              <a:rPr b="0" i="0" lang="en-US" sz="1425" u="none" cap="none" strike="noStrike">
                <a:solidFill>
                  <a:srgbClr val="CBD5E1"/>
                </a:solidFill>
                <a:latin typeface="Manrope"/>
                <a:ea typeface="Manrope"/>
                <a:cs typeface="Manrope"/>
                <a:sym typeface="Manrope"/>
              </a:rPr>
              <a:t> class.</a:t>
            </a:r>
            <a:endParaRPr/>
          </a:p>
        </p:txBody>
      </p:sp>
      <p:sp>
        <p:nvSpPr>
          <p:cNvPr id="294" name="Google Shape;294;p32"/>
          <p:cNvSpPr txBox="1"/>
          <p:nvPr/>
        </p:nvSpPr>
        <p:spPr>
          <a:xfrm>
            <a:off x="6334125" y="2654647"/>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F59E0B"/>
                </a:solidFill>
                <a:latin typeface="Manrope SemiBold"/>
                <a:ea typeface="Manrope SemiBold"/>
                <a:cs typeface="Manrope SemiBold"/>
                <a:sym typeface="Manrope SemiBold"/>
              </a:rPr>
              <a:t>Critical Safeguard: Group-Aware Splitting</a:t>
            </a:r>
            <a:endParaRPr/>
          </a:p>
        </p:txBody>
      </p:sp>
      <p:sp>
        <p:nvSpPr>
          <p:cNvPr id="295" name="Google Shape;295;p32"/>
          <p:cNvSpPr/>
          <p:nvPr/>
        </p:nvSpPr>
        <p:spPr>
          <a:xfrm>
            <a:off x="6334125" y="3269902"/>
            <a:ext cx="5276850" cy="581025"/>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32"/>
          <p:cNvSpPr txBox="1"/>
          <p:nvPr/>
        </p:nvSpPr>
        <p:spPr>
          <a:xfrm>
            <a:off x="6524625" y="3460402"/>
            <a:ext cx="48958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A5B4FC"/>
                </a:solidFill>
                <a:latin typeface="JetBrains Mono"/>
                <a:ea typeface="JetBrains Mono"/>
                <a:cs typeface="JetBrains Mono"/>
                <a:sym typeface="JetBrains Mono"/>
              </a:rPr>
              <a:t>group_id = source_row_id (if synthetic)</a:t>
            </a:r>
            <a:endParaRPr/>
          </a:p>
        </p:txBody>
      </p:sp>
      <p:sp>
        <p:nvSpPr>
          <p:cNvPr id="297" name="Google Shape;297;p32"/>
          <p:cNvSpPr/>
          <p:nvPr/>
        </p:nvSpPr>
        <p:spPr>
          <a:xfrm>
            <a:off x="6334125" y="3269902"/>
            <a:ext cx="38100" cy="58102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32"/>
          <p:cNvSpPr txBox="1"/>
          <p:nvPr/>
        </p:nvSpPr>
        <p:spPr>
          <a:xfrm>
            <a:off x="6334125" y="4041427"/>
            <a:ext cx="52768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ensured that a seed row and its synthetic paraphrases </a:t>
            </a:r>
            <a:r>
              <a:rPr b="1" i="0" lang="en-US" sz="1425" u="none" cap="none" strike="noStrike">
                <a:solidFill>
                  <a:srgbClr val="CBD5E1"/>
                </a:solidFill>
                <a:latin typeface="Manrope"/>
                <a:ea typeface="Manrope"/>
                <a:cs typeface="Manrope"/>
                <a:sym typeface="Manrope"/>
              </a:rPr>
              <a:t>always</a:t>
            </a:r>
            <a:r>
              <a:rPr b="0" i="0" lang="en-US" sz="1425" u="none" cap="none" strike="noStrike">
                <a:solidFill>
                  <a:srgbClr val="CBD5E1"/>
                </a:solidFill>
                <a:latin typeface="Manrope"/>
                <a:ea typeface="Manrope"/>
                <a:cs typeface="Manrope"/>
                <a:sym typeface="Manrope"/>
              </a:rPr>
              <a:t> ended up in the same split (Train or Val) to prevent data leakage.</a:t>
            </a:r>
            <a:endParaRPr/>
          </a:p>
        </p:txBody>
      </p:sp>
      <p:sp>
        <p:nvSpPr>
          <p:cNvPr id="299" name="Google Shape;299;p32"/>
          <p:cNvSpPr txBox="1"/>
          <p:nvPr/>
        </p:nvSpPr>
        <p:spPr>
          <a:xfrm>
            <a:off x="809625" y="3792735"/>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Seed Pool:</a:t>
            </a:r>
            <a:r>
              <a:rPr b="0" i="0" lang="en-US" sz="1425" u="none" cap="none" strike="noStrike">
                <a:solidFill>
                  <a:srgbClr val="CBD5E1"/>
                </a:solidFill>
                <a:latin typeface="Manrope"/>
                <a:ea typeface="Manrope"/>
                <a:cs typeface="Manrope"/>
                <a:sym typeface="Manrope"/>
              </a:rPr>
              <a:t> 9,040 polarized rows from train split.</a:t>
            </a:r>
            <a:endParaRPr/>
          </a:p>
        </p:txBody>
      </p:sp>
      <p:sp>
        <p:nvSpPr>
          <p:cNvPr id="300" name="Google Shape;300;p32"/>
          <p:cNvSpPr txBox="1"/>
          <p:nvPr/>
        </p:nvSpPr>
        <p:spPr>
          <a:xfrm>
            <a:off x="809625" y="4196506"/>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Method:</a:t>
            </a:r>
            <a:r>
              <a:rPr b="0" i="0" lang="en-US" sz="1425" u="none" cap="none" strike="noStrike">
                <a:solidFill>
                  <a:srgbClr val="CBD5E1"/>
                </a:solidFill>
                <a:latin typeface="Manrope"/>
                <a:ea typeface="Manrope"/>
                <a:cs typeface="Manrope"/>
                <a:sym typeface="Manrope"/>
              </a:rPr>
              <a:t> LLM-based Paraphrasing &amp; Rewriting.</a:t>
            </a:r>
            <a:endParaRPr/>
          </a:p>
        </p:txBody>
      </p:sp>
      <p:sp>
        <p:nvSpPr>
          <p:cNvPr id="301" name="Google Shape;301;p32"/>
          <p:cNvSpPr txBox="1"/>
          <p:nvPr/>
        </p:nvSpPr>
        <p:spPr>
          <a:xfrm>
            <a:off x="809625" y="4600277"/>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Output:</a:t>
            </a:r>
            <a:r>
              <a:rPr b="0" i="0" lang="en-US" sz="1425" u="none" cap="none" strike="noStrike">
                <a:solidFill>
                  <a:srgbClr val="CBD5E1"/>
                </a:solidFill>
                <a:latin typeface="Manrope"/>
                <a:ea typeface="Manrope"/>
                <a:cs typeface="Manrope"/>
                <a:sym typeface="Manrope"/>
              </a:rPr>
              <a:t> 26,121 new synthetic rows.</a:t>
            </a:r>
            <a:endParaRPr/>
          </a:p>
        </p:txBody>
      </p:sp>
      <p:sp>
        <p:nvSpPr>
          <p:cNvPr id="302" name="Google Shape;302;p32"/>
          <p:cNvSpPr txBox="1"/>
          <p:nvPr/>
        </p:nvSpPr>
        <p:spPr>
          <a:xfrm>
            <a:off x="581025" y="377368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03" name="Google Shape;303;p32"/>
          <p:cNvSpPr txBox="1"/>
          <p:nvPr/>
        </p:nvSpPr>
        <p:spPr>
          <a:xfrm>
            <a:off x="581025" y="4177456"/>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04" name="Google Shape;304;p32"/>
          <p:cNvSpPr txBox="1"/>
          <p:nvPr/>
        </p:nvSpPr>
        <p:spPr>
          <a:xfrm>
            <a:off x="581025" y="4581227"/>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descr="image.png" id="309" name="Google Shape;309;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0" name="Google Shape;310;p33"/>
          <p:cNvPicPr preferRelativeResize="0"/>
          <p:nvPr/>
        </p:nvPicPr>
        <p:blipFill rotWithShape="1">
          <a:blip r:embed="rId4">
            <a:alphaModFix/>
          </a:blip>
          <a:srcRect b="0" l="0" r="0" t="0"/>
          <a:stretch/>
        </p:blipFill>
        <p:spPr>
          <a:xfrm>
            <a:off x="581025" y="1934467"/>
            <a:ext cx="5276850" cy="3810000"/>
          </a:xfrm>
          <a:prstGeom prst="rect">
            <a:avLst/>
          </a:prstGeom>
          <a:noFill/>
          <a:ln>
            <a:noFill/>
          </a:ln>
        </p:spPr>
      </p:pic>
      <p:sp>
        <p:nvSpPr>
          <p:cNvPr id="311" name="Google Shape;311;p33"/>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Teacher A (The Expert)</a:t>
            </a:r>
            <a:endParaRPr/>
          </a:p>
        </p:txBody>
      </p:sp>
      <p:sp>
        <p:nvSpPr>
          <p:cNvPr id="312" name="Google Shape;312;p33"/>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3" name="Google Shape;313;p33"/>
          <p:cNvPicPr preferRelativeResize="0"/>
          <p:nvPr/>
        </p:nvPicPr>
        <p:blipFill rotWithShape="1">
          <a:blip r:embed="rId5">
            <a:alphaModFix/>
          </a:blip>
          <a:srcRect b="0" l="0" r="0" t="0"/>
          <a:stretch/>
        </p:blipFill>
        <p:spPr>
          <a:xfrm>
            <a:off x="590550" y="1943992"/>
            <a:ext cx="5257800" cy="3790950"/>
          </a:xfrm>
          <a:prstGeom prst="rect">
            <a:avLst/>
          </a:prstGeom>
          <a:noFill/>
          <a:ln>
            <a:noFill/>
          </a:ln>
        </p:spPr>
      </p:pic>
      <p:sp>
        <p:nvSpPr>
          <p:cNvPr id="314" name="Google Shape;314;p33"/>
          <p:cNvSpPr txBox="1"/>
          <p:nvPr/>
        </p:nvSpPr>
        <p:spPr>
          <a:xfrm>
            <a:off x="6334125" y="2315765"/>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Teacher A: Language Expert</a:t>
            </a:r>
            <a:endParaRPr/>
          </a:p>
        </p:txBody>
      </p:sp>
      <p:sp>
        <p:nvSpPr>
          <p:cNvPr id="315" name="Google Shape;315;p33"/>
          <p:cNvSpPr txBox="1"/>
          <p:nvPr/>
        </p:nvSpPr>
        <p:spPr>
          <a:xfrm>
            <a:off x="6334125" y="4380458"/>
            <a:ext cx="52768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Rationale:</a:t>
            </a:r>
            <a:r>
              <a:rPr b="0" i="0" lang="en-US" sz="1425" u="none" cap="none" strike="noStrike">
                <a:solidFill>
                  <a:srgbClr val="CBD5E1"/>
                </a:solidFill>
                <a:latin typeface="Manrope"/>
                <a:ea typeface="Manrope"/>
                <a:cs typeface="Manrope"/>
                <a:sym typeface="Manrope"/>
              </a:rPr>
              <a:t> These cover diverse scripts (Latin, Cyrillic, Arabic) and typologies (Indo-European, Agglutinative) to maximize transfer capability.</a:t>
            </a:r>
            <a:endParaRPr/>
          </a:p>
        </p:txBody>
      </p:sp>
      <p:sp>
        <p:nvSpPr>
          <p:cNvPr id="316" name="Google Shape;316;p33"/>
          <p:cNvSpPr txBox="1"/>
          <p:nvPr/>
        </p:nvSpPr>
        <p:spPr>
          <a:xfrm>
            <a:off x="6562725" y="2740521"/>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Model:</a:t>
            </a:r>
            <a:r>
              <a:rPr b="0" i="0" lang="en-US" sz="1425" u="none" cap="none" strike="noStrike">
                <a:solidFill>
                  <a:srgbClr val="CBD5E1"/>
                </a:solidFill>
                <a:latin typeface="Manrope"/>
                <a:ea typeface="Manrope"/>
                <a:cs typeface="Manrope"/>
                <a:sym typeface="Manrope"/>
              </a:rPr>
              <a:t> XLM-ROBERTa Large</a:t>
            </a:r>
            <a:endParaRPr/>
          </a:p>
        </p:txBody>
      </p:sp>
      <p:sp>
        <p:nvSpPr>
          <p:cNvPr id="317" name="Google Shape;317;p33"/>
          <p:cNvSpPr txBox="1"/>
          <p:nvPr/>
        </p:nvSpPr>
        <p:spPr>
          <a:xfrm>
            <a:off x="6562725" y="3144291"/>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Training Data:</a:t>
            </a:r>
            <a:r>
              <a:rPr b="0" i="0" lang="en-US" sz="1425" u="none" cap="none" strike="noStrike">
                <a:solidFill>
                  <a:srgbClr val="CBD5E1"/>
                </a:solidFill>
                <a:latin typeface="Manrope"/>
                <a:ea typeface="Manrope"/>
                <a:cs typeface="Manrope"/>
                <a:sym typeface="Manrope"/>
              </a:rPr>
              <a:t> Carefully selected subset of 7 high-resource languages:</a:t>
            </a:r>
            <a:endParaRPr/>
          </a:p>
        </p:txBody>
      </p:sp>
      <p:pic>
        <p:nvPicPr>
          <p:cNvPr descr="image.png" id="318" name="Google Shape;318;p33"/>
          <p:cNvPicPr preferRelativeResize="0"/>
          <p:nvPr/>
        </p:nvPicPr>
        <p:blipFill rotWithShape="1">
          <a:blip r:embed="rId6">
            <a:alphaModFix/>
          </a:blip>
          <a:srcRect b="0" l="0" r="0" t="0"/>
          <a:stretch/>
        </p:blipFill>
        <p:spPr>
          <a:xfrm>
            <a:off x="6334125" y="3913733"/>
            <a:ext cx="438150" cy="276225"/>
          </a:xfrm>
          <a:prstGeom prst="rect">
            <a:avLst/>
          </a:prstGeom>
          <a:noFill/>
          <a:ln>
            <a:noFill/>
          </a:ln>
        </p:spPr>
      </p:pic>
      <p:pic>
        <p:nvPicPr>
          <p:cNvPr descr="image.png" id="319" name="Google Shape;319;p33"/>
          <p:cNvPicPr preferRelativeResize="0"/>
          <p:nvPr/>
        </p:nvPicPr>
        <p:blipFill rotWithShape="1">
          <a:blip r:embed="rId7">
            <a:alphaModFix/>
          </a:blip>
          <a:srcRect b="0" l="0" r="0" t="0"/>
          <a:stretch/>
        </p:blipFill>
        <p:spPr>
          <a:xfrm>
            <a:off x="7010400" y="3913733"/>
            <a:ext cx="438150" cy="276225"/>
          </a:xfrm>
          <a:prstGeom prst="rect">
            <a:avLst/>
          </a:prstGeom>
          <a:noFill/>
          <a:ln>
            <a:noFill/>
          </a:ln>
        </p:spPr>
      </p:pic>
      <p:pic>
        <p:nvPicPr>
          <p:cNvPr descr="image.png" id="320" name="Google Shape;320;p33"/>
          <p:cNvPicPr preferRelativeResize="0"/>
          <p:nvPr/>
        </p:nvPicPr>
        <p:blipFill rotWithShape="1">
          <a:blip r:embed="rId8">
            <a:alphaModFix/>
          </a:blip>
          <a:srcRect b="0" l="0" r="0" t="0"/>
          <a:stretch/>
        </p:blipFill>
        <p:spPr>
          <a:xfrm>
            <a:off x="7686675" y="3913733"/>
            <a:ext cx="438150" cy="276225"/>
          </a:xfrm>
          <a:prstGeom prst="rect">
            <a:avLst/>
          </a:prstGeom>
          <a:noFill/>
          <a:ln>
            <a:noFill/>
          </a:ln>
        </p:spPr>
      </p:pic>
      <p:pic>
        <p:nvPicPr>
          <p:cNvPr descr="image.png" id="321" name="Google Shape;321;p33"/>
          <p:cNvPicPr preferRelativeResize="0"/>
          <p:nvPr/>
        </p:nvPicPr>
        <p:blipFill rotWithShape="1">
          <a:blip r:embed="rId9">
            <a:alphaModFix/>
          </a:blip>
          <a:srcRect b="0" l="0" r="0" t="0"/>
          <a:stretch/>
        </p:blipFill>
        <p:spPr>
          <a:xfrm>
            <a:off x="8362950" y="3913733"/>
            <a:ext cx="438150" cy="276225"/>
          </a:xfrm>
          <a:prstGeom prst="rect">
            <a:avLst/>
          </a:prstGeom>
          <a:noFill/>
          <a:ln>
            <a:noFill/>
          </a:ln>
        </p:spPr>
      </p:pic>
      <p:pic>
        <p:nvPicPr>
          <p:cNvPr descr="image.png" id="322" name="Google Shape;322;p33"/>
          <p:cNvPicPr preferRelativeResize="0"/>
          <p:nvPr/>
        </p:nvPicPr>
        <p:blipFill rotWithShape="1">
          <a:blip r:embed="rId10">
            <a:alphaModFix/>
          </a:blip>
          <a:srcRect b="0" l="0" r="0" t="0"/>
          <a:stretch/>
        </p:blipFill>
        <p:spPr>
          <a:xfrm>
            <a:off x="9039225" y="3913733"/>
            <a:ext cx="438150" cy="276225"/>
          </a:xfrm>
          <a:prstGeom prst="rect">
            <a:avLst/>
          </a:prstGeom>
          <a:noFill/>
          <a:ln>
            <a:noFill/>
          </a:ln>
        </p:spPr>
      </p:pic>
      <p:pic>
        <p:nvPicPr>
          <p:cNvPr descr="image.png" id="323" name="Google Shape;323;p33"/>
          <p:cNvPicPr preferRelativeResize="0"/>
          <p:nvPr/>
        </p:nvPicPr>
        <p:blipFill rotWithShape="1">
          <a:blip r:embed="rId11">
            <a:alphaModFix/>
          </a:blip>
          <a:srcRect b="0" l="0" r="0" t="0"/>
          <a:stretch/>
        </p:blipFill>
        <p:spPr>
          <a:xfrm>
            <a:off x="9715500" y="3913733"/>
            <a:ext cx="438150" cy="276225"/>
          </a:xfrm>
          <a:prstGeom prst="rect">
            <a:avLst/>
          </a:prstGeom>
          <a:noFill/>
          <a:ln>
            <a:noFill/>
          </a:ln>
        </p:spPr>
      </p:pic>
      <p:pic>
        <p:nvPicPr>
          <p:cNvPr descr="image.png" id="324" name="Google Shape;324;p33"/>
          <p:cNvPicPr preferRelativeResize="0"/>
          <p:nvPr/>
        </p:nvPicPr>
        <p:blipFill rotWithShape="1">
          <a:blip r:embed="rId12">
            <a:alphaModFix/>
          </a:blip>
          <a:srcRect b="0" l="0" r="0" t="0"/>
          <a:stretch/>
        </p:blipFill>
        <p:spPr>
          <a:xfrm>
            <a:off x="10391775" y="3913733"/>
            <a:ext cx="438150" cy="276225"/>
          </a:xfrm>
          <a:prstGeom prst="rect">
            <a:avLst/>
          </a:prstGeom>
          <a:noFill/>
          <a:ln>
            <a:noFill/>
          </a:ln>
        </p:spPr>
      </p:pic>
      <p:sp>
        <p:nvSpPr>
          <p:cNvPr id="325" name="Google Shape;325;p33"/>
          <p:cNvSpPr txBox="1"/>
          <p:nvPr/>
        </p:nvSpPr>
        <p:spPr>
          <a:xfrm>
            <a:off x="6334125" y="272147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26" name="Google Shape;326;p33"/>
          <p:cNvSpPr txBox="1"/>
          <p:nvPr/>
        </p:nvSpPr>
        <p:spPr>
          <a:xfrm>
            <a:off x="6334125" y="312524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image.png" id="331" name="Google Shape;331;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2" name="Google Shape;332;p34"/>
          <p:cNvPicPr preferRelativeResize="0"/>
          <p:nvPr/>
        </p:nvPicPr>
        <p:blipFill rotWithShape="1">
          <a:blip r:embed="rId4">
            <a:alphaModFix/>
          </a:blip>
          <a:srcRect b="0" l="0" r="0" t="0"/>
          <a:stretch/>
        </p:blipFill>
        <p:spPr>
          <a:xfrm>
            <a:off x="6334125" y="1637258"/>
            <a:ext cx="5276850" cy="3810000"/>
          </a:xfrm>
          <a:prstGeom prst="rect">
            <a:avLst/>
          </a:prstGeom>
          <a:noFill/>
          <a:ln>
            <a:noFill/>
          </a:ln>
        </p:spPr>
      </p:pic>
      <p:sp>
        <p:nvSpPr>
          <p:cNvPr id="333" name="Google Shape;333;p34"/>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The Leakage Lesson</a:t>
            </a:r>
            <a:endParaRPr/>
          </a:p>
        </p:txBody>
      </p:sp>
      <p:sp>
        <p:nvSpPr>
          <p:cNvPr id="334" name="Google Shape;334;p34"/>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4"/>
          <p:cNvSpPr txBox="1"/>
          <p:nvPr/>
        </p:nvSpPr>
        <p:spPr>
          <a:xfrm>
            <a:off x="581025" y="5968454"/>
            <a:ext cx="11029950"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A5B4FC"/>
                </a:solidFill>
                <a:latin typeface="Manrope"/>
                <a:ea typeface="Manrope"/>
                <a:cs typeface="Manrope"/>
                <a:sym typeface="Manrope"/>
              </a:rPr>
              <a:t>Outcome: We discarded Teacher B to ensure honest generalization.</a:t>
            </a:r>
            <a:endParaRPr/>
          </a:p>
        </p:txBody>
      </p:sp>
      <p:sp>
        <p:nvSpPr>
          <p:cNvPr id="336" name="Google Shape;336;p34"/>
          <p:cNvSpPr txBox="1"/>
          <p:nvPr/>
        </p:nvSpPr>
        <p:spPr>
          <a:xfrm>
            <a:off x="563400" y="1920257"/>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Teacher B (Topic Expert) - </a:t>
            </a:r>
            <a:r>
              <a:rPr b="0" i="0" lang="en-US" sz="1950" u="none" cap="none" strike="noStrike">
                <a:solidFill>
                  <a:srgbClr val="EF4444"/>
                </a:solidFill>
                <a:latin typeface="Manrope SemiBold"/>
                <a:ea typeface="Manrope SemiBold"/>
                <a:cs typeface="Manrope SemiBold"/>
                <a:sym typeface="Manrope SemiBold"/>
              </a:rPr>
              <a:t>DROPPED</a:t>
            </a:r>
            <a:endParaRPr/>
          </a:p>
        </p:txBody>
      </p:sp>
      <p:sp>
        <p:nvSpPr>
          <p:cNvPr id="337" name="Google Shape;337;p34"/>
          <p:cNvSpPr txBox="1"/>
          <p:nvPr/>
        </p:nvSpPr>
        <p:spPr>
          <a:xfrm>
            <a:off x="563400" y="2319950"/>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initially implemented a second teacher </a:t>
            </a:r>
            <a:r>
              <a:rPr lang="en-US" sz="1425">
                <a:solidFill>
                  <a:srgbClr val="CBD5E1"/>
                </a:solidFill>
                <a:latin typeface="Manrope"/>
                <a:ea typeface="Manrope"/>
                <a:cs typeface="Manrope"/>
                <a:sym typeface="Manrope"/>
              </a:rPr>
              <a:t>that operates on both the text and topics</a:t>
            </a:r>
            <a:r>
              <a:rPr b="0" i="0" lang="en-US" sz="1425" u="none" cap="none" strike="noStrike">
                <a:solidFill>
                  <a:srgbClr val="CBD5E1"/>
                </a:solidFill>
                <a:latin typeface="Manrope"/>
                <a:ea typeface="Manrope"/>
                <a:cs typeface="Manrope"/>
                <a:sym typeface="Manrope"/>
              </a:rPr>
              <a:t>. However, we discovered a critical flaw.</a:t>
            </a:r>
            <a:endParaRPr/>
          </a:p>
        </p:txBody>
      </p:sp>
      <p:pic>
        <p:nvPicPr>
          <p:cNvPr descr="image.png" id="338" name="Google Shape;338;p34"/>
          <p:cNvPicPr preferRelativeResize="0"/>
          <p:nvPr/>
        </p:nvPicPr>
        <p:blipFill rotWithShape="1">
          <a:blip r:embed="rId5">
            <a:alphaModFix/>
          </a:blip>
          <a:srcRect b="0" l="0" r="0" t="0"/>
          <a:stretch/>
        </p:blipFill>
        <p:spPr>
          <a:xfrm>
            <a:off x="6343650" y="1646783"/>
            <a:ext cx="5257799" cy="3790950"/>
          </a:xfrm>
          <a:prstGeom prst="rect">
            <a:avLst/>
          </a:prstGeom>
          <a:noFill/>
          <a:ln>
            <a:noFill/>
          </a:ln>
        </p:spPr>
      </p:pic>
      <p:sp>
        <p:nvSpPr>
          <p:cNvPr id="339" name="Google Shape;339;p34"/>
          <p:cNvSpPr txBox="1"/>
          <p:nvPr/>
        </p:nvSpPr>
        <p:spPr>
          <a:xfrm>
            <a:off x="809625" y="3206204"/>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Observation:</a:t>
            </a:r>
            <a:r>
              <a:rPr b="0" i="0" lang="en-US" sz="1425" u="none" cap="none" strike="noStrike">
                <a:solidFill>
                  <a:srgbClr val="CBD5E1"/>
                </a:solidFill>
                <a:latin typeface="Manrope"/>
                <a:ea typeface="Manrope"/>
                <a:cs typeface="Manrope"/>
                <a:sym typeface="Manrope"/>
              </a:rPr>
              <a:t> Topic vector features were effectively present </a:t>
            </a:r>
            <a:r>
              <a:rPr b="0" i="1" lang="en-US" sz="1425" u="none" cap="none" strike="noStrike">
                <a:solidFill>
                  <a:srgbClr val="CBD5E1"/>
                </a:solidFill>
                <a:latin typeface="Manrope"/>
                <a:ea typeface="Manrope"/>
                <a:cs typeface="Manrope"/>
                <a:sym typeface="Manrope"/>
              </a:rPr>
              <a:t>only</a:t>
            </a:r>
            <a:r>
              <a:rPr b="0" i="0" lang="en-US" sz="1425" u="none" cap="none" strike="noStrike">
                <a:solidFill>
                  <a:srgbClr val="CBD5E1"/>
                </a:solidFill>
                <a:latin typeface="Manrope"/>
                <a:ea typeface="Manrope"/>
                <a:cs typeface="Manrope"/>
                <a:sym typeface="Manrope"/>
              </a:rPr>
              <a:t> for polarized rows.</a:t>
            </a:r>
            <a:endParaRPr/>
          </a:p>
        </p:txBody>
      </p:sp>
      <p:sp>
        <p:nvSpPr>
          <p:cNvPr id="340" name="Google Shape;340;p34"/>
          <p:cNvSpPr txBox="1"/>
          <p:nvPr/>
        </p:nvSpPr>
        <p:spPr>
          <a:xfrm>
            <a:off x="809625" y="3899445"/>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Result:</a:t>
            </a:r>
            <a:r>
              <a:rPr b="0" i="0" lang="en-US" sz="1425" u="none" cap="none" strike="noStrike">
                <a:solidFill>
                  <a:srgbClr val="CBD5E1"/>
                </a:solidFill>
                <a:latin typeface="Manrope"/>
                <a:ea typeface="Manrope"/>
                <a:cs typeface="Manrope"/>
                <a:sym typeface="Manrope"/>
              </a:rPr>
              <a:t> Non-polarized rows often had zero-vectors.</a:t>
            </a:r>
            <a:endParaRPr/>
          </a:p>
        </p:txBody>
      </p:sp>
      <p:sp>
        <p:nvSpPr>
          <p:cNvPr id="341" name="Google Shape;341;p34"/>
          <p:cNvSpPr txBox="1"/>
          <p:nvPr/>
        </p:nvSpPr>
        <p:spPr>
          <a:xfrm>
            <a:off x="809625" y="4303216"/>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Impact:</a:t>
            </a:r>
            <a:r>
              <a:rPr b="0" i="0" lang="en-US" sz="1425" u="none" cap="none" strike="noStrike">
                <a:solidFill>
                  <a:srgbClr val="CBD5E1"/>
                </a:solidFill>
                <a:latin typeface="Manrope"/>
                <a:ea typeface="Manrope"/>
                <a:cs typeface="Manrope"/>
                <a:sym typeface="Manrope"/>
              </a:rPr>
              <a:t> Feature presence became a direct proxy for the label ("Leakage").</a:t>
            </a:r>
            <a:endParaRPr/>
          </a:p>
        </p:txBody>
      </p:sp>
      <p:sp>
        <p:nvSpPr>
          <p:cNvPr id="342" name="Google Shape;342;p34"/>
          <p:cNvSpPr txBox="1"/>
          <p:nvPr/>
        </p:nvSpPr>
        <p:spPr>
          <a:xfrm>
            <a:off x="581025" y="3187154"/>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43" name="Google Shape;343;p34"/>
          <p:cNvSpPr txBox="1"/>
          <p:nvPr/>
        </p:nvSpPr>
        <p:spPr>
          <a:xfrm>
            <a:off x="581025" y="388039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44" name="Google Shape;344;p34"/>
          <p:cNvSpPr txBox="1"/>
          <p:nvPr/>
        </p:nvSpPr>
        <p:spPr>
          <a:xfrm>
            <a:off x="581025" y="4284166"/>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image.png" id="349" name="Google Shape;349;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0" name="Google Shape;350;p35"/>
          <p:cNvPicPr preferRelativeResize="0"/>
          <p:nvPr/>
        </p:nvPicPr>
        <p:blipFill rotWithShape="1">
          <a:blip r:embed="rId4">
            <a:alphaModFix/>
          </a:blip>
          <a:srcRect b="0" l="0" r="0" t="0"/>
          <a:stretch/>
        </p:blipFill>
        <p:spPr>
          <a:xfrm>
            <a:off x="581025" y="1306710"/>
            <a:ext cx="5276850" cy="5065514"/>
          </a:xfrm>
          <a:prstGeom prst="rect">
            <a:avLst/>
          </a:prstGeom>
          <a:noFill/>
          <a:ln>
            <a:noFill/>
          </a:ln>
        </p:spPr>
      </p:pic>
      <p:pic>
        <p:nvPicPr>
          <p:cNvPr descr="image.png" id="351" name="Google Shape;351;p35"/>
          <p:cNvPicPr preferRelativeResize="0"/>
          <p:nvPr/>
        </p:nvPicPr>
        <p:blipFill rotWithShape="1">
          <a:blip r:embed="rId5">
            <a:alphaModFix/>
          </a:blip>
          <a:srcRect b="0" l="0" r="0" t="0"/>
          <a:stretch/>
        </p:blipFill>
        <p:spPr>
          <a:xfrm>
            <a:off x="6334125" y="1306710"/>
            <a:ext cx="5276850" cy="5065514"/>
          </a:xfrm>
          <a:prstGeom prst="rect">
            <a:avLst/>
          </a:prstGeom>
          <a:noFill/>
          <a:ln>
            <a:noFill/>
          </a:ln>
        </p:spPr>
      </p:pic>
      <p:sp>
        <p:nvSpPr>
          <p:cNvPr id="352" name="Google Shape;352;p35"/>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Methodology: Distillation Targets</a:t>
            </a:r>
            <a:endParaRPr/>
          </a:p>
        </p:txBody>
      </p:sp>
      <p:sp>
        <p:nvSpPr>
          <p:cNvPr id="353" name="Google Shape;353;p35"/>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4" name="Google Shape;354;p35"/>
          <p:cNvSpPr txBox="1"/>
          <p:nvPr/>
        </p:nvSpPr>
        <p:spPr>
          <a:xfrm>
            <a:off x="895350" y="1621035"/>
            <a:ext cx="4880610"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Generating Soft Targets</a:t>
            </a:r>
            <a:endParaRPr/>
          </a:p>
        </p:txBody>
      </p:sp>
      <p:sp>
        <p:nvSpPr>
          <p:cNvPr id="355" name="Google Shape;355;p35"/>
          <p:cNvSpPr txBox="1"/>
          <p:nvPr/>
        </p:nvSpPr>
        <p:spPr>
          <a:xfrm>
            <a:off x="895350" y="2045791"/>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ran Teacher A inference on the real (non-synthetic) train rows.</a:t>
            </a:r>
            <a:endParaRPr/>
          </a:p>
        </p:txBody>
      </p:sp>
      <p:sp>
        <p:nvSpPr>
          <p:cNvPr id="356" name="Google Shape;356;p35"/>
          <p:cNvSpPr txBox="1"/>
          <p:nvPr/>
        </p:nvSpPr>
        <p:spPr>
          <a:xfrm>
            <a:off x="895350" y="2739032"/>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Constraint:</a:t>
            </a:r>
            <a:r>
              <a:rPr b="0" i="0" lang="en-US" sz="1425" u="none" cap="none" strike="noStrike">
                <a:solidFill>
                  <a:srgbClr val="CBD5E1"/>
                </a:solidFill>
                <a:latin typeface="Manrope"/>
                <a:ea typeface="Manrope"/>
                <a:cs typeface="Manrope"/>
                <a:sym typeface="Manrope"/>
              </a:rPr>
              <a:t> Inference was only run where was available (translated or original).</a:t>
            </a:r>
            <a:endParaRPr/>
          </a:p>
        </p:txBody>
      </p:sp>
      <p:sp>
        <p:nvSpPr>
          <p:cNvPr id="357" name="Google Shape;357;p35"/>
          <p:cNvSpPr txBox="1"/>
          <p:nvPr/>
        </p:nvSpPr>
        <p:spPr>
          <a:xfrm>
            <a:off x="6648450" y="1621035"/>
            <a:ext cx="4880610"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Output</a:t>
            </a:r>
            <a:endParaRPr/>
          </a:p>
        </p:txBody>
      </p:sp>
      <p:sp>
        <p:nvSpPr>
          <p:cNvPr id="358" name="Google Shape;358;p35"/>
          <p:cNvSpPr txBox="1"/>
          <p:nvPr/>
        </p:nvSpPr>
        <p:spPr>
          <a:xfrm>
            <a:off x="6648450" y="2045791"/>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exported the </a:t>
            </a:r>
            <a:r>
              <a:rPr b="1" i="0" lang="en-US" sz="1425" u="none" cap="none" strike="noStrike">
                <a:solidFill>
                  <a:srgbClr val="CBD5E1"/>
                </a:solidFill>
                <a:latin typeface="Manrope"/>
                <a:ea typeface="Manrope"/>
                <a:cs typeface="Manrope"/>
                <a:sym typeface="Manrope"/>
              </a:rPr>
              <a:t>Logits</a:t>
            </a:r>
            <a:r>
              <a:rPr b="0" i="0" lang="en-US" sz="1425" u="none" cap="none" strike="noStrike">
                <a:solidFill>
                  <a:srgbClr val="CBD5E1"/>
                </a:solidFill>
                <a:latin typeface="Manrope"/>
                <a:ea typeface="Manrope"/>
                <a:cs typeface="Manrope"/>
                <a:sym typeface="Manrope"/>
              </a:rPr>
              <a:t> (raw prediction scores) and probabilities.</a:t>
            </a:r>
            <a:endParaRPr/>
          </a:p>
        </p:txBody>
      </p:sp>
      <p:sp>
        <p:nvSpPr>
          <p:cNvPr id="359" name="Google Shape;359;p35"/>
          <p:cNvSpPr txBox="1"/>
          <p:nvPr/>
        </p:nvSpPr>
        <p:spPr>
          <a:xfrm>
            <a:off x="6648450" y="2739032"/>
            <a:ext cx="46482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These were merged back into the master training table as for the student to learn from.</a:t>
            </a:r>
            <a:endParaRPr/>
          </a:p>
        </p:txBody>
      </p:sp>
      <p:pic>
        <p:nvPicPr>
          <p:cNvPr descr="image.png" id="360" name="Google Shape;360;p35"/>
          <p:cNvPicPr preferRelativeResize="0"/>
          <p:nvPr/>
        </p:nvPicPr>
        <p:blipFill rotWithShape="1">
          <a:blip r:embed="rId6">
            <a:alphaModFix/>
          </a:blip>
          <a:srcRect b="0" l="0" r="0" t="0"/>
          <a:stretch/>
        </p:blipFill>
        <p:spPr>
          <a:xfrm>
            <a:off x="3000375" y="3047557"/>
            <a:ext cx="819150" cy="276225"/>
          </a:xfrm>
          <a:prstGeom prst="rect">
            <a:avLst/>
          </a:prstGeom>
          <a:noFill/>
          <a:ln>
            <a:noFill/>
          </a:ln>
        </p:spPr>
      </p:pic>
      <p:pic>
        <p:nvPicPr>
          <p:cNvPr descr="image.png" id="361" name="Google Shape;361;p35"/>
          <p:cNvPicPr preferRelativeResize="0"/>
          <p:nvPr/>
        </p:nvPicPr>
        <p:blipFill rotWithShape="1">
          <a:blip r:embed="rId7">
            <a:alphaModFix/>
          </a:blip>
          <a:srcRect b="0" l="0" r="0" t="0"/>
          <a:stretch/>
        </p:blipFill>
        <p:spPr>
          <a:xfrm>
            <a:off x="9573975" y="3047553"/>
            <a:ext cx="1200150" cy="276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descr="image.png" id="366" name="Google Shape;366;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7" name="Google Shape;367;p36"/>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Student Training: Architecture &amp; Design</a:t>
            </a:r>
            <a:endParaRPr/>
          </a:p>
        </p:txBody>
      </p:sp>
      <p:sp>
        <p:nvSpPr>
          <p:cNvPr id="368" name="Google Shape;368;p36"/>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36"/>
          <p:cNvSpPr txBox="1"/>
          <p:nvPr/>
        </p:nvSpPr>
        <p:spPr>
          <a:xfrm>
            <a:off x="581025" y="2385268"/>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Student Model</a:t>
            </a:r>
            <a:endParaRPr/>
          </a:p>
        </p:txBody>
      </p:sp>
      <p:sp>
        <p:nvSpPr>
          <p:cNvPr id="370" name="Google Shape;370;p36"/>
          <p:cNvSpPr txBox="1"/>
          <p:nvPr/>
        </p:nvSpPr>
        <p:spPr>
          <a:xfrm>
            <a:off x="581025" y="2810023"/>
            <a:ext cx="52770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use </a:t>
            </a:r>
            <a:r>
              <a:rPr b="1" i="0" lang="en-US" sz="1425" u="none" cap="none" strike="noStrike">
                <a:solidFill>
                  <a:srgbClr val="CBD5E1"/>
                </a:solidFill>
                <a:latin typeface="Manrope"/>
                <a:ea typeface="Manrope"/>
                <a:cs typeface="Manrope"/>
                <a:sym typeface="Manrope"/>
              </a:rPr>
              <a:t>XLM-ROBERTa Base</a:t>
            </a:r>
            <a:r>
              <a:rPr b="0" i="0" lang="en-US" sz="1425" u="none" cap="none" strike="noStrike">
                <a:solidFill>
                  <a:srgbClr val="CBD5E1"/>
                </a:solidFill>
                <a:latin typeface="Manrope"/>
                <a:ea typeface="Manrope"/>
                <a:cs typeface="Manrope"/>
                <a:sym typeface="Manrope"/>
              </a:rPr>
              <a:t> as our single student model.</a:t>
            </a:r>
            <a:endParaRPr/>
          </a:p>
        </p:txBody>
      </p:sp>
      <p:sp>
        <p:nvSpPr>
          <p:cNvPr id="371" name="Google Shape;371;p36"/>
          <p:cNvSpPr txBox="1"/>
          <p:nvPr/>
        </p:nvSpPr>
        <p:spPr>
          <a:xfrm>
            <a:off x="6334125" y="2365176"/>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Input Strategy</a:t>
            </a:r>
            <a:endParaRPr/>
          </a:p>
        </p:txBody>
      </p:sp>
      <p:sp>
        <p:nvSpPr>
          <p:cNvPr id="372" name="Google Shape;372;p36"/>
          <p:cNvSpPr txBox="1"/>
          <p:nvPr/>
        </p:nvSpPr>
        <p:spPr>
          <a:xfrm>
            <a:off x="6334125" y="2789932"/>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Critically, the Student </a:t>
            </a:r>
            <a:r>
              <a:rPr b="1" i="0" lang="en-US" sz="1425" u="none" cap="none" strike="noStrike">
                <a:solidFill>
                  <a:srgbClr val="CBD5E1"/>
                </a:solidFill>
                <a:latin typeface="Manrope"/>
                <a:ea typeface="Manrope"/>
                <a:cs typeface="Manrope"/>
                <a:sym typeface="Manrope"/>
              </a:rPr>
              <a:t>does NOT</a:t>
            </a:r>
            <a:r>
              <a:rPr b="0" i="0" lang="en-US" sz="1425" u="none" cap="none" strike="noStrike">
                <a:solidFill>
                  <a:srgbClr val="CBD5E1"/>
                </a:solidFill>
                <a:latin typeface="Manrope"/>
                <a:ea typeface="Manrope"/>
                <a:cs typeface="Manrope"/>
                <a:sym typeface="Manrope"/>
              </a:rPr>
              <a:t> use the translated English text.</a:t>
            </a:r>
            <a:endParaRPr/>
          </a:p>
        </p:txBody>
      </p:sp>
      <p:sp>
        <p:nvSpPr>
          <p:cNvPr id="373" name="Google Shape;373;p36"/>
          <p:cNvSpPr/>
          <p:nvPr/>
        </p:nvSpPr>
        <p:spPr>
          <a:xfrm>
            <a:off x="6334125" y="3559373"/>
            <a:ext cx="5277000" cy="5811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36"/>
          <p:cNvSpPr txBox="1"/>
          <p:nvPr/>
        </p:nvSpPr>
        <p:spPr>
          <a:xfrm>
            <a:off x="6524625" y="3749873"/>
            <a:ext cx="48960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A5B4FC"/>
                </a:solidFill>
                <a:latin typeface="JetBrains Mono"/>
                <a:ea typeface="JetBrains Mono"/>
                <a:cs typeface="JetBrains Mono"/>
                <a:sym typeface="JetBrains Mono"/>
              </a:rPr>
              <a:t>Input = Original Multilingual Text (raw)</a:t>
            </a:r>
            <a:endParaRPr/>
          </a:p>
        </p:txBody>
      </p:sp>
      <p:sp>
        <p:nvSpPr>
          <p:cNvPr id="375" name="Google Shape;375;p36"/>
          <p:cNvSpPr/>
          <p:nvPr/>
        </p:nvSpPr>
        <p:spPr>
          <a:xfrm>
            <a:off x="6334125" y="3559373"/>
            <a:ext cx="38100" cy="5811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36"/>
          <p:cNvSpPr txBox="1"/>
          <p:nvPr/>
        </p:nvSpPr>
        <p:spPr>
          <a:xfrm>
            <a:off x="6334125" y="4330898"/>
            <a:ext cx="52770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This ensures the model learns native patterns in the 22 target languages, rather than relying on the translation artifact used only for teacher supervision.</a:t>
            </a:r>
            <a:endParaRPr/>
          </a:p>
        </p:txBody>
      </p:sp>
      <p:sp>
        <p:nvSpPr>
          <p:cNvPr id="377" name="Google Shape;377;p36"/>
          <p:cNvSpPr txBox="1"/>
          <p:nvPr/>
        </p:nvSpPr>
        <p:spPr>
          <a:xfrm>
            <a:off x="809625" y="3213794"/>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Purpose:</a:t>
            </a:r>
            <a:r>
              <a:rPr b="0" i="0" lang="en-US" sz="1425" u="none" cap="none" strike="noStrike">
                <a:solidFill>
                  <a:srgbClr val="CBD5E1"/>
                </a:solidFill>
                <a:latin typeface="Manrope"/>
                <a:ea typeface="Manrope"/>
                <a:cs typeface="Manrope"/>
                <a:sym typeface="Manrope"/>
              </a:rPr>
              <a:t> Inference efficiency. The Large teacher is too heavy for rapid, real-time deployment.</a:t>
            </a:r>
            <a:endParaRPr/>
          </a:p>
        </p:txBody>
      </p:sp>
      <p:sp>
        <p:nvSpPr>
          <p:cNvPr id="378" name="Google Shape;378;p36"/>
          <p:cNvSpPr txBox="1"/>
          <p:nvPr/>
        </p:nvSpPr>
        <p:spPr>
          <a:xfrm>
            <a:off x="809625" y="3907035"/>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Knowledge Transfer:</a:t>
            </a:r>
            <a:r>
              <a:rPr b="0" i="0" lang="en-US" sz="1425" u="none" cap="none" strike="noStrike">
                <a:solidFill>
                  <a:srgbClr val="CBD5E1"/>
                </a:solidFill>
                <a:latin typeface="Manrope"/>
                <a:ea typeface="Manrope"/>
                <a:cs typeface="Manrope"/>
                <a:sym typeface="Manrope"/>
              </a:rPr>
              <a:t> The Base model learns to mimic the complex decision boundaries of the Large teacher.</a:t>
            </a:r>
            <a:endParaRPr/>
          </a:p>
        </p:txBody>
      </p:sp>
      <p:sp>
        <p:nvSpPr>
          <p:cNvPr id="379" name="Google Shape;379;p36"/>
          <p:cNvSpPr txBox="1"/>
          <p:nvPr/>
        </p:nvSpPr>
        <p:spPr>
          <a:xfrm>
            <a:off x="809625" y="4600277"/>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Test-Time Behavior:</a:t>
            </a:r>
            <a:r>
              <a:rPr b="0" i="0" lang="en-US" sz="1425" u="none" cap="none" strike="noStrike">
                <a:solidFill>
                  <a:srgbClr val="CBD5E1"/>
                </a:solidFill>
                <a:latin typeface="Manrope"/>
                <a:ea typeface="Manrope"/>
                <a:cs typeface="Manrope"/>
                <a:sym typeface="Manrope"/>
              </a:rPr>
              <a:t> "Teachers are discarded." Only this student model is used for the final submission.</a:t>
            </a:r>
            <a:endParaRPr/>
          </a:p>
        </p:txBody>
      </p:sp>
      <p:sp>
        <p:nvSpPr>
          <p:cNvPr id="380" name="Google Shape;380;p36"/>
          <p:cNvSpPr txBox="1"/>
          <p:nvPr/>
        </p:nvSpPr>
        <p:spPr>
          <a:xfrm>
            <a:off x="581025" y="3194744"/>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81" name="Google Shape;381;p36"/>
          <p:cNvSpPr txBox="1"/>
          <p:nvPr/>
        </p:nvSpPr>
        <p:spPr>
          <a:xfrm>
            <a:off x="581025" y="3887985"/>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382" name="Google Shape;382;p36"/>
          <p:cNvSpPr txBox="1"/>
          <p:nvPr/>
        </p:nvSpPr>
        <p:spPr>
          <a:xfrm>
            <a:off x="581025" y="4581227"/>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image.png" id="387" name="Google Shape;387;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88" name="Google Shape;388;p37"/>
          <p:cNvPicPr preferRelativeResize="0"/>
          <p:nvPr/>
        </p:nvPicPr>
        <p:blipFill rotWithShape="1">
          <a:blip r:embed="rId4">
            <a:alphaModFix/>
          </a:blip>
          <a:srcRect b="0" l="0" r="0" t="0"/>
          <a:stretch/>
        </p:blipFill>
        <p:spPr>
          <a:xfrm>
            <a:off x="6334125" y="1945332"/>
            <a:ext cx="5276850" cy="3788271"/>
          </a:xfrm>
          <a:prstGeom prst="rect">
            <a:avLst/>
          </a:prstGeom>
          <a:noFill/>
          <a:ln>
            <a:noFill/>
          </a:ln>
        </p:spPr>
      </p:pic>
      <p:sp>
        <p:nvSpPr>
          <p:cNvPr id="389" name="Google Shape;389;p37"/>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Student Training: Setup &amp; Split</a:t>
            </a:r>
            <a:endParaRPr/>
          </a:p>
        </p:txBody>
      </p:sp>
      <p:sp>
        <p:nvSpPr>
          <p:cNvPr id="390" name="Google Shape;390;p37"/>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37"/>
          <p:cNvSpPr txBox="1"/>
          <p:nvPr/>
        </p:nvSpPr>
        <p:spPr>
          <a:xfrm>
            <a:off x="581025" y="2933848"/>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Validation Challenge</a:t>
            </a:r>
            <a:endParaRPr/>
          </a:p>
        </p:txBody>
      </p:sp>
      <p:sp>
        <p:nvSpPr>
          <p:cNvPr id="392" name="Google Shape;392;p37"/>
          <p:cNvSpPr txBox="1"/>
          <p:nvPr/>
        </p:nvSpPr>
        <p:spPr>
          <a:xfrm>
            <a:off x="581025" y="3358604"/>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 official development set provided by organizers was </a:t>
            </a:r>
            <a:r>
              <a:rPr b="1" i="0" lang="en-US" sz="1425" u="none" cap="none" strike="noStrike">
                <a:solidFill>
                  <a:srgbClr val="CBD5E1"/>
                </a:solidFill>
                <a:latin typeface="Manrope"/>
                <a:ea typeface="Manrope"/>
                <a:cs typeface="Manrope"/>
                <a:sym typeface="Manrope"/>
              </a:rPr>
              <a:t>unlabeled</a:t>
            </a:r>
            <a:r>
              <a:rPr b="0" i="0" lang="en-US" sz="1425" u="none" cap="none" strike="noStrike">
                <a:solidFill>
                  <a:srgbClr val="CBD5E1"/>
                </a:solidFill>
                <a:latin typeface="Manrope"/>
                <a:ea typeface="Manrope"/>
                <a:cs typeface="Manrope"/>
                <a:sym typeface="Manrope"/>
              </a:rPr>
              <a:t>.</a:t>
            </a:r>
            <a:endParaRPr/>
          </a:p>
        </p:txBody>
      </p:sp>
      <p:sp>
        <p:nvSpPr>
          <p:cNvPr id="393" name="Google Shape;393;p37"/>
          <p:cNvSpPr txBox="1"/>
          <p:nvPr/>
        </p:nvSpPr>
        <p:spPr>
          <a:xfrm>
            <a:off x="581025" y="4051845"/>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This meant we could not use it for hyperparameter tuning or early stopping.</a:t>
            </a:r>
            <a:endParaRPr/>
          </a:p>
        </p:txBody>
      </p:sp>
      <p:sp>
        <p:nvSpPr>
          <p:cNvPr id="394" name="Google Shape;394;p37"/>
          <p:cNvSpPr txBox="1"/>
          <p:nvPr/>
        </p:nvSpPr>
        <p:spPr>
          <a:xfrm>
            <a:off x="6629400" y="2240607"/>
            <a:ext cx="49206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Internal Split Strategy</a:t>
            </a:r>
            <a:endParaRPr/>
          </a:p>
        </p:txBody>
      </p:sp>
      <p:sp>
        <p:nvSpPr>
          <p:cNvPr id="395" name="Google Shape;395;p37"/>
          <p:cNvSpPr txBox="1"/>
          <p:nvPr/>
        </p:nvSpPr>
        <p:spPr>
          <a:xfrm>
            <a:off x="6629400" y="2665362"/>
            <a:ext cx="46863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created a custom internal train/validation split from the official labeled training data.</a:t>
            </a:r>
            <a:endParaRPr/>
          </a:p>
        </p:txBody>
      </p:sp>
      <p:sp>
        <p:nvSpPr>
          <p:cNvPr id="396" name="Google Shape;396;p37"/>
          <p:cNvSpPr txBox="1"/>
          <p:nvPr/>
        </p:nvSpPr>
        <p:spPr>
          <a:xfrm>
            <a:off x="6858000" y="3358604"/>
            <a:ext cx="44577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Fixed Seed:</a:t>
            </a:r>
            <a:r>
              <a:rPr b="0" i="0" lang="en-US" sz="1425" u="none" cap="none" strike="noStrike">
                <a:solidFill>
                  <a:srgbClr val="CBD5E1"/>
                </a:solidFill>
                <a:latin typeface="Manrope"/>
                <a:ea typeface="Manrope"/>
                <a:cs typeface="Manrope"/>
                <a:sym typeface="Manrope"/>
              </a:rPr>
              <a:t> To ensure reproducibility across runs.</a:t>
            </a:r>
            <a:endParaRPr/>
          </a:p>
        </p:txBody>
      </p:sp>
      <p:sp>
        <p:nvSpPr>
          <p:cNvPr id="397" name="Google Shape;397;p37"/>
          <p:cNvSpPr txBox="1"/>
          <p:nvPr/>
        </p:nvSpPr>
        <p:spPr>
          <a:xfrm>
            <a:off x="6858000" y="3762375"/>
            <a:ext cx="44577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Label Stratification:</a:t>
            </a:r>
            <a:r>
              <a:rPr b="0" i="0" lang="en-US" sz="1425" u="none" cap="none" strike="noStrike">
                <a:solidFill>
                  <a:srgbClr val="CBD5E1"/>
                </a:solidFill>
                <a:latin typeface="Manrope"/>
                <a:ea typeface="Manrope"/>
                <a:cs typeface="Manrope"/>
                <a:sym typeface="Manrope"/>
              </a:rPr>
              <a:t> To maintain class balance in both splits.</a:t>
            </a:r>
            <a:endParaRPr/>
          </a:p>
        </p:txBody>
      </p:sp>
      <p:sp>
        <p:nvSpPr>
          <p:cNvPr id="398" name="Google Shape;398;p37"/>
          <p:cNvSpPr txBox="1"/>
          <p:nvPr/>
        </p:nvSpPr>
        <p:spPr>
          <a:xfrm>
            <a:off x="6858000" y="4455616"/>
            <a:ext cx="44577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Group-Aware:</a:t>
            </a:r>
            <a:r>
              <a:rPr b="0" i="0" lang="en-US" sz="1425" u="none" cap="none" strike="noStrike">
                <a:solidFill>
                  <a:srgbClr val="CBD5E1"/>
                </a:solidFill>
                <a:latin typeface="Manrope"/>
                <a:ea typeface="Manrope"/>
                <a:cs typeface="Manrope"/>
                <a:sym typeface="Manrope"/>
              </a:rPr>
              <a:t> Although used primarily for synthetic data, our pipeline respects group IDs to prevent future leakage.</a:t>
            </a:r>
            <a:endParaRPr/>
          </a:p>
        </p:txBody>
      </p:sp>
      <p:sp>
        <p:nvSpPr>
          <p:cNvPr id="399" name="Google Shape;399;p37"/>
          <p:cNvSpPr txBox="1"/>
          <p:nvPr/>
        </p:nvSpPr>
        <p:spPr>
          <a:xfrm>
            <a:off x="6629400" y="3339554"/>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00" name="Google Shape;400;p37"/>
          <p:cNvSpPr txBox="1"/>
          <p:nvPr/>
        </p:nvSpPr>
        <p:spPr>
          <a:xfrm>
            <a:off x="6629400" y="3743325"/>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01" name="Google Shape;401;p37"/>
          <p:cNvSpPr txBox="1"/>
          <p:nvPr/>
        </p:nvSpPr>
        <p:spPr>
          <a:xfrm>
            <a:off x="6629400" y="4436566"/>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image.png" id="406" name="Google Shape;406;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07" name="Google Shape;407;p38"/>
          <p:cNvPicPr preferRelativeResize="0"/>
          <p:nvPr/>
        </p:nvPicPr>
        <p:blipFill rotWithShape="1">
          <a:blip r:embed="rId4">
            <a:alphaModFix/>
          </a:blip>
          <a:srcRect b="0" l="0" r="0" t="0"/>
          <a:stretch/>
        </p:blipFill>
        <p:spPr>
          <a:xfrm>
            <a:off x="6334125" y="1625500"/>
            <a:ext cx="5276850" cy="4762500"/>
          </a:xfrm>
          <a:prstGeom prst="rect">
            <a:avLst/>
          </a:prstGeom>
          <a:noFill/>
          <a:ln>
            <a:noFill/>
          </a:ln>
        </p:spPr>
      </p:pic>
      <p:pic>
        <p:nvPicPr>
          <p:cNvPr descr="image.png" id="408" name="Google Shape;408;p38"/>
          <p:cNvPicPr preferRelativeResize="0"/>
          <p:nvPr/>
        </p:nvPicPr>
        <p:blipFill rotWithShape="1">
          <a:blip r:embed="rId5">
            <a:alphaModFix/>
          </a:blip>
          <a:srcRect b="0" l="0" r="0" t="0"/>
          <a:stretch/>
        </p:blipFill>
        <p:spPr>
          <a:xfrm>
            <a:off x="581025" y="5668565"/>
            <a:ext cx="5276850" cy="847725"/>
          </a:xfrm>
          <a:prstGeom prst="rect">
            <a:avLst/>
          </a:prstGeom>
          <a:noFill/>
          <a:ln>
            <a:noFill/>
          </a:ln>
        </p:spPr>
      </p:pic>
      <p:pic>
        <p:nvPicPr>
          <p:cNvPr descr="image.png" id="409" name="Google Shape;409;p38"/>
          <p:cNvPicPr preferRelativeResize="0"/>
          <p:nvPr/>
        </p:nvPicPr>
        <p:blipFill rotWithShape="1">
          <a:blip r:embed="rId6">
            <a:alphaModFix/>
          </a:blip>
          <a:srcRect b="0" l="0" r="0" t="0"/>
          <a:stretch/>
        </p:blipFill>
        <p:spPr>
          <a:xfrm>
            <a:off x="6343650" y="1635025"/>
            <a:ext cx="5257799" cy="352425"/>
          </a:xfrm>
          <a:prstGeom prst="rect">
            <a:avLst/>
          </a:prstGeom>
          <a:noFill/>
          <a:ln>
            <a:noFill/>
          </a:ln>
        </p:spPr>
      </p:pic>
      <p:pic>
        <p:nvPicPr>
          <p:cNvPr descr="image.png" id="410" name="Google Shape;410;p38"/>
          <p:cNvPicPr preferRelativeResize="0"/>
          <p:nvPr/>
        </p:nvPicPr>
        <p:blipFill rotWithShape="1">
          <a:blip r:embed="rId7">
            <a:alphaModFix/>
          </a:blip>
          <a:srcRect b="0" l="0" r="0" t="0"/>
          <a:stretch/>
        </p:blipFill>
        <p:spPr>
          <a:xfrm>
            <a:off x="6343650" y="6454675"/>
            <a:ext cx="5257799" cy="333375"/>
          </a:xfrm>
          <a:prstGeom prst="rect">
            <a:avLst/>
          </a:prstGeom>
          <a:noFill/>
          <a:ln>
            <a:noFill/>
          </a:ln>
        </p:spPr>
      </p:pic>
      <p:sp>
        <p:nvSpPr>
          <p:cNvPr id="411" name="Google Shape;411;p38"/>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Student Training: Final Data Structure</a:t>
            </a:r>
            <a:endParaRPr/>
          </a:p>
        </p:txBody>
      </p:sp>
      <p:sp>
        <p:nvSpPr>
          <p:cNvPr id="412" name="Google Shape;412;p38"/>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38"/>
          <p:cNvSpPr txBox="1"/>
          <p:nvPr/>
        </p:nvSpPr>
        <p:spPr>
          <a:xfrm>
            <a:off x="581025" y="1306710"/>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A5B4FC"/>
                </a:solidFill>
                <a:latin typeface="Manrope SemiBold"/>
                <a:ea typeface="Manrope SemiBold"/>
                <a:cs typeface="Manrope SemiBold"/>
                <a:sym typeface="Manrope SemiBold"/>
              </a:rPr>
              <a:t>Enriched Training File</a:t>
            </a:r>
            <a:endParaRPr/>
          </a:p>
        </p:txBody>
      </p:sp>
      <p:sp>
        <p:nvSpPr>
          <p:cNvPr id="414" name="Google Shape;414;p38"/>
          <p:cNvSpPr txBox="1"/>
          <p:nvPr/>
        </p:nvSpPr>
        <p:spPr>
          <a:xfrm>
            <a:off x="581025" y="1817191"/>
            <a:ext cx="52770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transformed the original dataset into master_with_teacherA_logits.csv, adding critical signals for distillation:</a:t>
            </a:r>
            <a:endParaRPr/>
          </a:p>
        </p:txBody>
      </p:sp>
      <p:sp>
        <p:nvSpPr>
          <p:cNvPr id="415" name="Google Shape;415;p38"/>
          <p:cNvSpPr/>
          <p:nvPr/>
        </p:nvSpPr>
        <p:spPr>
          <a:xfrm>
            <a:off x="581025" y="2933253"/>
            <a:ext cx="5277000" cy="575100"/>
          </a:xfrm>
          <a:prstGeom prst="roundRect">
            <a:avLst>
              <a:gd fmla="val 1324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38"/>
          <p:cNvSpPr txBox="1"/>
          <p:nvPr/>
        </p:nvSpPr>
        <p:spPr>
          <a:xfrm>
            <a:off x="723900" y="3076128"/>
            <a:ext cx="4991100" cy="219300"/>
          </a:xfrm>
          <a:prstGeom prst="rect">
            <a:avLst/>
          </a:prstGeom>
          <a:noFill/>
          <a:ln>
            <a:noFill/>
          </a:ln>
        </p:spPr>
        <p:txBody>
          <a:bodyPr anchorCtr="0" anchor="ctr"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A5B4FC"/>
                </a:solidFill>
                <a:latin typeface="Manrope"/>
                <a:ea typeface="Manrope"/>
                <a:cs typeface="Manrope"/>
                <a:sym typeface="Manrope"/>
              </a:rPr>
              <a:t>row_id</a:t>
            </a:r>
            <a:r>
              <a:rPr b="0" i="0" lang="en-US" sz="1425" u="none" cap="none" strike="noStrike">
                <a:solidFill>
                  <a:srgbClr val="CBD5E1"/>
                </a:solidFill>
                <a:latin typeface="Manrope"/>
                <a:ea typeface="Manrope"/>
                <a:cs typeface="Manrope"/>
                <a:sym typeface="Manrope"/>
              </a:rPr>
              <a:t> Deterministic hash for safe splitting (by or</a:t>
            </a:r>
            <a:r>
              <a:rPr lang="en-US" sz="1425">
                <a:solidFill>
                  <a:srgbClr val="CBD5E1"/>
                </a:solidFill>
                <a:latin typeface="Manrope"/>
                <a:ea typeface="Manrope"/>
                <a:cs typeface="Manrope"/>
                <a:sym typeface="Manrope"/>
              </a:rPr>
              <a:t>ganizers)</a:t>
            </a:r>
            <a:r>
              <a:rPr b="0" i="0" lang="en-US" sz="1425" u="none" cap="none" strike="noStrike">
                <a:solidFill>
                  <a:srgbClr val="CBD5E1"/>
                </a:solidFill>
                <a:latin typeface="Manrope"/>
                <a:ea typeface="Manrope"/>
                <a:cs typeface="Manrope"/>
                <a:sym typeface="Manrope"/>
              </a:rPr>
              <a:t>.</a:t>
            </a:r>
            <a:endParaRPr/>
          </a:p>
        </p:txBody>
      </p:sp>
      <p:sp>
        <p:nvSpPr>
          <p:cNvPr id="417" name="Google Shape;417;p38"/>
          <p:cNvSpPr/>
          <p:nvPr/>
        </p:nvSpPr>
        <p:spPr>
          <a:xfrm>
            <a:off x="581025" y="2933253"/>
            <a:ext cx="38100" cy="5751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38"/>
          <p:cNvSpPr/>
          <p:nvPr/>
        </p:nvSpPr>
        <p:spPr>
          <a:xfrm>
            <a:off x="581025" y="3813274"/>
            <a:ext cx="5277000" cy="575100"/>
          </a:xfrm>
          <a:prstGeom prst="roundRect">
            <a:avLst>
              <a:gd fmla="val 1324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38"/>
          <p:cNvSpPr txBox="1"/>
          <p:nvPr/>
        </p:nvSpPr>
        <p:spPr>
          <a:xfrm>
            <a:off x="723900" y="3956149"/>
            <a:ext cx="4991100" cy="219300"/>
          </a:xfrm>
          <a:prstGeom prst="rect">
            <a:avLst/>
          </a:prstGeom>
          <a:noFill/>
          <a:ln>
            <a:noFill/>
          </a:ln>
        </p:spPr>
        <p:txBody>
          <a:bodyPr anchorCtr="0" anchor="ctr"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FBBF24"/>
                </a:solidFill>
                <a:latin typeface="Manrope"/>
                <a:ea typeface="Manrope"/>
                <a:cs typeface="Manrope"/>
                <a:sym typeface="Manrope"/>
              </a:rPr>
              <a:t>teacherA_p1</a:t>
            </a:r>
            <a:r>
              <a:rPr b="0" i="0" lang="en-US" sz="1425" u="none" cap="none" strike="noStrike">
                <a:solidFill>
                  <a:srgbClr val="CBD5E1"/>
                </a:solidFill>
                <a:latin typeface="Manrope"/>
                <a:ea typeface="Manrope"/>
                <a:cs typeface="Manrope"/>
                <a:sym typeface="Manrope"/>
              </a:rPr>
              <a:t> Teacher's soft probability (0.0 - 1.0).</a:t>
            </a:r>
            <a:endParaRPr/>
          </a:p>
        </p:txBody>
      </p:sp>
      <p:sp>
        <p:nvSpPr>
          <p:cNvPr id="420" name="Google Shape;420;p38"/>
          <p:cNvSpPr/>
          <p:nvPr/>
        </p:nvSpPr>
        <p:spPr>
          <a:xfrm>
            <a:off x="581025" y="3813274"/>
            <a:ext cx="38100" cy="57510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38"/>
          <p:cNvSpPr/>
          <p:nvPr/>
        </p:nvSpPr>
        <p:spPr>
          <a:xfrm>
            <a:off x="581025" y="4693294"/>
            <a:ext cx="5277000" cy="575100"/>
          </a:xfrm>
          <a:prstGeom prst="roundRect">
            <a:avLst>
              <a:gd fmla="val 1324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38"/>
          <p:cNvSpPr txBox="1"/>
          <p:nvPr/>
        </p:nvSpPr>
        <p:spPr>
          <a:xfrm>
            <a:off x="723900" y="4836169"/>
            <a:ext cx="4991100" cy="219300"/>
          </a:xfrm>
          <a:prstGeom prst="rect">
            <a:avLst/>
          </a:prstGeom>
          <a:noFill/>
          <a:ln>
            <a:noFill/>
          </a:ln>
        </p:spPr>
        <p:txBody>
          <a:bodyPr anchorCtr="0" anchor="ctr"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text_en</a:t>
            </a:r>
            <a:r>
              <a:rPr b="0" i="0" lang="en-US" sz="1425" u="none" cap="none" strike="noStrike">
                <a:solidFill>
                  <a:srgbClr val="CBD5E1"/>
                </a:solidFill>
                <a:latin typeface="Manrope"/>
                <a:ea typeface="Manrope"/>
                <a:cs typeface="Manrope"/>
                <a:sym typeface="Manrope"/>
              </a:rPr>
              <a:t> Used </a:t>
            </a:r>
            <a:r>
              <a:rPr b="0" i="1" lang="en-US" sz="1425" u="none" cap="none" strike="noStrike">
                <a:solidFill>
                  <a:srgbClr val="CBD5E1"/>
                </a:solidFill>
                <a:latin typeface="Manrope"/>
                <a:ea typeface="Manrope"/>
                <a:cs typeface="Manrope"/>
                <a:sym typeface="Manrope"/>
              </a:rPr>
              <a:t>only</a:t>
            </a:r>
            <a:r>
              <a:rPr b="0" i="0" lang="en-US" sz="1425" u="none" cap="none" strike="noStrike">
                <a:solidFill>
                  <a:srgbClr val="CBD5E1"/>
                </a:solidFill>
                <a:latin typeface="Manrope"/>
                <a:ea typeface="Manrope"/>
                <a:cs typeface="Manrope"/>
                <a:sym typeface="Manrope"/>
              </a:rPr>
              <a:t> for loss condition check.</a:t>
            </a:r>
            <a:endParaRPr/>
          </a:p>
        </p:txBody>
      </p:sp>
      <p:sp>
        <p:nvSpPr>
          <p:cNvPr id="423" name="Google Shape;423;p38"/>
          <p:cNvSpPr/>
          <p:nvPr/>
        </p:nvSpPr>
        <p:spPr>
          <a:xfrm>
            <a:off x="581025" y="4693294"/>
            <a:ext cx="38100" cy="575100"/>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38"/>
          <p:cNvSpPr txBox="1"/>
          <p:nvPr/>
        </p:nvSpPr>
        <p:spPr>
          <a:xfrm>
            <a:off x="2576512" y="5887640"/>
            <a:ext cx="12858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94A3B8"/>
                </a:solidFill>
                <a:latin typeface="JetBrains Mono"/>
                <a:ea typeface="JetBrains Mono"/>
                <a:cs typeface="JetBrains Mono"/>
                <a:sym typeface="JetBrains Mono"/>
              </a:rPr>
              <a:t>TRAINING SIGNAL</a:t>
            </a:r>
            <a:endParaRPr/>
          </a:p>
        </p:txBody>
      </p:sp>
      <p:sp>
        <p:nvSpPr>
          <p:cNvPr id="425" name="Google Shape;425;p38"/>
          <p:cNvSpPr txBox="1"/>
          <p:nvPr/>
        </p:nvSpPr>
        <p:spPr>
          <a:xfrm>
            <a:off x="1333500" y="6068615"/>
            <a:ext cx="37719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E2E8F0"/>
                </a:solidFill>
                <a:latin typeface="JetBrains Mono"/>
                <a:ea typeface="JetBrains Mono"/>
                <a:cs typeface="JetBrains Mono"/>
                <a:sym typeface="JetBrains Mono"/>
              </a:rPr>
              <a:t>Target = </a:t>
            </a:r>
            <a:r>
              <a:rPr b="1" i="0" lang="en-US" sz="1500" u="none" cap="none" strike="noStrike">
                <a:solidFill>
                  <a:srgbClr val="EF4444"/>
                </a:solidFill>
                <a:latin typeface="JetBrains Mono"/>
                <a:ea typeface="JetBrains Mono"/>
                <a:cs typeface="JetBrains Mono"/>
                <a:sym typeface="JetBrains Mono"/>
              </a:rPr>
              <a:t>Hard Label</a:t>
            </a:r>
            <a:r>
              <a:rPr b="1" i="0" lang="en-US" sz="1500" u="none" cap="none" strike="noStrike">
                <a:solidFill>
                  <a:srgbClr val="E2E8F0"/>
                </a:solidFill>
                <a:latin typeface="JetBrains Mono"/>
                <a:ea typeface="JetBrains Mono"/>
                <a:cs typeface="JetBrains Mono"/>
                <a:sym typeface="JetBrains Mono"/>
              </a:rPr>
              <a:t> + </a:t>
            </a:r>
            <a:r>
              <a:rPr b="1" i="0" lang="en-US" sz="1500" u="none" cap="none" strike="noStrike">
                <a:solidFill>
                  <a:srgbClr val="FBBF24"/>
                </a:solidFill>
                <a:latin typeface="JetBrains Mono"/>
                <a:ea typeface="JetBrains Mono"/>
                <a:cs typeface="JetBrains Mono"/>
                <a:sym typeface="JetBrains Mono"/>
              </a:rPr>
              <a:t>Soft Logits</a:t>
            </a:r>
            <a:endParaRPr/>
          </a:p>
        </p:txBody>
      </p:sp>
      <p:sp>
        <p:nvSpPr>
          <p:cNvPr id="426" name="Google Shape;426;p38"/>
          <p:cNvSpPr/>
          <p:nvPr/>
        </p:nvSpPr>
        <p:spPr>
          <a:xfrm>
            <a:off x="6486525" y="1758850"/>
            <a:ext cx="95400" cy="95400"/>
          </a:xfrm>
          <a:prstGeom prst="roundRect">
            <a:avLst>
              <a:gd fmla="val 50000" name="adj"/>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38"/>
          <p:cNvSpPr/>
          <p:nvPr/>
        </p:nvSpPr>
        <p:spPr>
          <a:xfrm>
            <a:off x="6657975" y="1758850"/>
            <a:ext cx="95400" cy="95400"/>
          </a:xfrm>
          <a:prstGeom prst="roundRect">
            <a:avLst>
              <a:gd fmla="val 50000" name="adj"/>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38"/>
          <p:cNvSpPr/>
          <p:nvPr/>
        </p:nvSpPr>
        <p:spPr>
          <a:xfrm>
            <a:off x="6829425" y="1758850"/>
            <a:ext cx="95400" cy="95400"/>
          </a:xfrm>
          <a:prstGeom prst="roundRect">
            <a:avLst>
              <a:gd fmla="val 50000" name="adj"/>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38"/>
          <p:cNvSpPr txBox="1"/>
          <p:nvPr/>
        </p:nvSpPr>
        <p:spPr>
          <a:xfrm>
            <a:off x="7096125" y="1730275"/>
            <a:ext cx="37038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94A3B8"/>
                </a:solidFill>
                <a:latin typeface="JetBrains Mono"/>
                <a:ea typeface="JetBrains Mono"/>
                <a:cs typeface="JetBrains Mono"/>
                <a:sym typeface="JetBrains Mono"/>
              </a:rPr>
              <a:t>~/data/processed/master_with_teacherA_logits.csv</a:t>
            </a:r>
            <a:endParaRPr/>
          </a:p>
        </p:txBody>
      </p:sp>
      <p:graphicFrame>
        <p:nvGraphicFramePr>
          <p:cNvPr id="430" name="Google Shape;430;p38"/>
          <p:cNvGraphicFramePr/>
          <p:nvPr/>
        </p:nvGraphicFramePr>
        <p:xfrm>
          <a:off x="6343650" y="1987450"/>
          <a:ext cx="3000000" cy="3000000"/>
        </p:xfrm>
        <a:graphic>
          <a:graphicData uri="http://schemas.openxmlformats.org/drawingml/2006/table">
            <a:tbl>
              <a:tblPr bandRow="1" firstRow="1">
                <a:noFill/>
                <a:tableStyleId>{E0E25B36-2C86-4994-86C3-6929DEDAE696}</a:tableStyleId>
              </a:tblPr>
              <a:tblGrid>
                <a:gridCol w="1123950"/>
                <a:gridCol w="2207275"/>
                <a:gridCol w="750100"/>
                <a:gridCol w="1176475"/>
              </a:tblGrid>
              <a:tr h="638175">
                <a:tc>
                  <a:txBody>
                    <a:bodyPr/>
                    <a:lstStyle/>
                    <a:p>
                      <a:pPr indent="0" lvl="0" marL="0" marR="0" rtl="0" algn="l">
                        <a:spcBef>
                          <a:spcPts val="0"/>
                        </a:spcBef>
                        <a:spcAft>
                          <a:spcPts val="0"/>
                        </a:spcAft>
                        <a:buNone/>
                      </a:pPr>
                      <a:r>
                        <a:rPr b="0" i="0" lang="en-US" sz="1050" u="none" cap="none" strike="noStrike">
                          <a:solidFill>
                            <a:srgbClr val="6366F1"/>
                          </a:solidFill>
                          <a:latin typeface="JetBrains Mono SemiBold"/>
                          <a:ea typeface="JetBrains Mono SemiBold"/>
                          <a:cs typeface="JetBrains Mono SemiBold"/>
                          <a:sym typeface="JetBrains Mono SemiBold"/>
                        </a:rPr>
                        <a:t>row_id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JetBrains Mono SemiBold"/>
                          <a:ea typeface="JetBrains Mono SemiBold"/>
                          <a:cs typeface="JetBrains Mono SemiBold"/>
                          <a:sym typeface="JetBrains Mono SemiBold"/>
                        </a:rPr>
                        <a:t>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ctr">
                        <a:spcBef>
                          <a:spcPts val="0"/>
                        </a:spcBef>
                        <a:spcAft>
                          <a:spcPts val="0"/>
                        </a:spcAft>
                        <a:buNone/>
                      </a:pPr>
                      <a:r>
                        <a:rPr b="0" i="0" lang="en-US" sz="1050" u="none" cap="none" strike="noStrike">
                          <a:solidFill>
                            <a:srgbClr val="EF4444"/>
                          </a:solidFill>
                          <a:latin typeface="JetBrains Mono SemiBold"/>
                          <a:ea typeface="JetBrains Mono SemiBold"/>
                          <a:cs typeface="JetBrains Mono SemiBold"/>
                          <a:sym typeface="JetBrains Mono SemiBold"/>
                        </a:rPr>
                        <a:t>label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r">
                        <a:spcBef>
                          <a:spcPts val="0"/>
                        </a:spcBef>
                        <a:spcAft>
                          <a:spcPts val="0"/>
                        </a:spcAft>
                        <a:buNone/>
                      </a:pPr>
                      <a:r>
                        <a:rPr b="0" i="0" lang="en-US" sz="1050" u="none" cap="none" strike="noStrike">
                          <a:solidFill>
                            <a:srgbClr val="FBBF24"/>
                          </a:solidFill>
                          <a:latin typeface="JetBrains Mono SemiBold"/>
                          <a:ea typeface="JetBrains Mono SemiBold"/>
                          <a:cs typeface="JetBrains Mono SemiBold"/>
                          <a:sym typeface="JetBrains Mono SemiBold"/>
                        </a:rPr>
                        <a:t>teacherA_p1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00008b2f</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A2B"/>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RT @user: This is absol...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A2B"/>
                    </a:solidFill>
                  </a:tcPr>
                </a:tc>
                <a:tc>
                  <a:txBody>
                    <a:bodyPr/>
                    <a:lstStyle/>
                    <a:p>
                      <a:pPr indent="0" lvl="0" marL="0" marR="0" rtl="0" algn="ctr">
                        <a:spcBef>
                          <a:spcPts val="0"/>
                        </a:spcBef>
                        <a:spcAft>
                          <a:spcPts val="0"/>
                        </a:spcAft>
                        <a:buNone/>
                      </a:pPr>
                      <a:r>
                        <a:rPr b="0" i="0" lang="en-US" sz="1350" u="none" cap="none" strike="noStrike">
                          <a:solidFill>
                            <a:srgbClr val="EF4444"/>
                          </a:solidFill>
                          <a:latin typeface="JetBrains Mono"/>
                          <a:ea typeface="JetBrains Mono"/>
                          <a:cs typeface="JetBrains Mono"/>
                          <a:sym typeface="JetBrains Mono"/>
                        </a:rPr>
                        <a:t>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A2B"/>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0.00034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A2B"/>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0001a2c9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عاجل: يجب أن نقف صف...</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None/>
                      </a:pPr>
                      <a:r>
                        <a:rPr b="0" i="0" lang="en-US" sz="1350" u="none" cap="none" strike="noStrike">
                          <a:solidFill>
                            <a:srgbClr val="22C55E"/>
                          </a:solidFill>
                          <a:latin typeface="JetBrains Mono"/>
                          <a:ea typeface="JetBrains Mono"/>
                          <a:cs typeface="JetBrains Mono"/>
                          <a:sym typeface="JetBrains Mono"/>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0.99821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0002c9a1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31C2C"/>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The debate was clearly...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31C2C"/>
                    </a:solidFill>
                  </a:tcPr>
                </a:tc>
                <a:tc>
                  <a:txBody>
                    <a:bodyPr/>
                    <a:lstStyle/>
                    <a:p>
                      <a:pPr indent="0" lvl="0" marL="0" marR="0" rtl="0" algn="ctr">
                        <a:spcBef>
                          <a:spcPts val="0"/>
                        </a:spcBef>
                        <a:spcAft>
                          <a:spcPts val="0"/>
                        </a:spcAft>
                        <a:buNone/>
                      </a:pPr>
                      <a:r>
                        <a:rPr b="0" i="0" lang="en-US" sz="1350" u="none" cap="none" strike="noStrike">
                          <a:solidFill>
                            <a:srgbClr val="22C55E"/>
                          </a:solidFill>
                          <a:latin typeface="JetBrains Mono"/>
                          <a:ea typeface="JetBrains Mono"/>
                          <a:cs typeface="JetBrains Mono"/>
                          <a:sym typeface="JetBrains Mono"/>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31C2C"/>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0.87510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31C2C"/>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0003d1b5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No me importa lo que...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None/>
                      </a:pPr>
                      <a:r>
                        <a:rPr b="0" i="0" lang="en-US" sz="1350" u="none" cap="none" strike="noStrike">
                          <a:solidFill>
                            <a:srgbClr val="EF4444"/>
                          </a:solidFill>
                          <a:latin typeface="JetBrains Mono"/>
                          <a:ea typeface="JetBrains Mono"/>
                          <a:cs typeface="JetBrains Mono"/>
                          <a:sym typeface="JetBrains Mono"/>
                        </a:rPr>
                        <a:t>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0.12401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0004e8f2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B2B"/>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Zcela souhlasím s tím...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B2B"/>
                    </a:solidFill>
                  </a:tcPr>
                </a:tc>
                <a:tc>
                  <a:txBody>
                    <a:bodyPr/>
                    <a:lstStyle/>
                    <a:p>
                      <a:pPr indent="0" lvl="0" marL="0" marR="0" rtl="0" algn="ctr">
                        <a:spcBef>
                          <a:spcPts val="0"/>
                        </a:spcBef>
                        <a:spcAft>
                          <a:spcPts val="0"/>
                        </a:spcAft>
                        <a:buNone/>
                      </a:pPr>
                      <a:r>
                        <a:rPr b="0" i="0" lang="en-US" sz="1350" u="none" cap="none" strike="noStrike">
                          <a:solidFill>
                            <a:srgbClr val="EF4444"/>
                          </a:solidFill>
                          <a:latin typeface="JetBrains Mono"/>
                          <a:ea typeface="JetBrains Mono"/>
                          <a:cs typeface="JetBrains Mono"/>
                          <a:sym typeface="JetBrains Mono"/>
                        </a:rPr>
                        <a:t>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B2B"/>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0.00192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21B2B"/>
                    </a:solidFill>
                  </a:tcPr>
                </a:tc>
              </a:tr>
              <a:tr h="638175">
                <a:tc>
                  <a:txBody>
                    <a:bodyPr/>
                    <a:lstStyle/>
                    <a:p>
                      <a:pPr indent="0" lvl="0" marL="0" marR="0" rtl="0" algn="l">
                        <a:spcBef>
                          <a:spcPts val="0"/>
                        </a:spcBef>
                        <a:spcAft>
                          <a:spcPts val="0"/>
                        </a:spcAft>
                        <a:buNone/>
                      </a:pPr>
                      <a:r>
                        <a:rPr b="0" i="0" lang="en-US" sz="1350" u="none" cap="none" strike="noStrike">
                          <a:solidFill>
                            <a:srgbClr val="64748B"/>
                          </a:solidFill>
                          <a:latin typeface="JetBrains Mono"/>
                          <a:ea typeface="JetBrains Mono"/>
                          <a:cs typeface="JetBrains Mono"/>
                          <a:sym typeface="JetBrains Mono"/>
                        </a:rPr>
                        <a:t>0005f1a9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JetBrains Mono"/>
                          <a:ea typeface="JetBrains Mono"/>
                          <a:cs typeface="JetBrains Mono"/>
                          <a:sym typeface="JetBrains Mono"/>
                        </a:rPr>
                        <a:t>Это предательство...</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None/>
                      </a:pPr>
                      <a:r>
                        <a:rPr b="0" i="0" lang="en-US" sz="1350" u="none" cap="none" strike="noStrike">
                          <a:solidFill>
                            <a:srgbClr val="22C55E"/>
                          </a:solidFill>
                          <a:latin typeface="JetBrains Mono"/>
                          <a:ea typeface="JetBrains Mono"/>
                          <a:cs typeface="JetBrains Mono"/>
                          <a:sym typeface="JetBrains Mono"/>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r">
                        <a:spcBef>
                          <a:spcPts val="0"/>
                        </a:spcBef>
                        <a:spcAft>
                          <a:spcPts val="0"/>
                        </a:spcAft>
                        <a:buNone/>
                      </a:pPr>
                      <a:r>
                        <a:rPr b="0" i="0" lang="en-US" sz="1350" u="none" cap="none" strike="noStrike">
                          <a:solidFill>
                            <a:srgbClr val="FBBF24"/>
                          </a:solidFill>
                          <a:latin typeface="JetBrains Mono"/>
                          <a:ea typeface="JetBrains Mono"/>
                          <a:cs typeface="JetBrains Mono"/>
                          <a:sym typeface="JetBrains Mono"/>
                        </a:rPr>
                        <a:t>0.95430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bl>
          </a:graphicData>
        </a:graphic>
      </p:graphicFrame>
      <p:sp>
        <p:nvSpPr>
          <p:cNvPr id="431" name="Google Shape;431;p38"/>
          <p:cNvSpPr txBox="1"/>
          <p:nvPr/>
        </p:nvSpPr>
        <p:spPr>
          <a:xfrm>
            <a:off x="581025" y="2914203"/>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32" name="Google Shape;432;p38"/>
          <p:cNvSpPr txBox="1"/>
          <p:nvPr/>
        </p:nvSpPr>
        <p:spPr>
          <a:xfrm>
            <a:off x="581025" y="3794224"/>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33" name="Google Shape;433;p38"/>
          <p:cNvSpPr txBox="1"/>
          <p:nvPr/>
        </p:nvSpPr>
        <p:spPr>
          <a:xfrm>
            <a:off x="581025" y="4674244"/>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34" name="Google Shape;434;p38"/>
          <p:cNvSpPr/>
          <p:nvPr/>
        </p:nvSpPr>
        <p:spPr>
          <a:xfrm>
            <a:off x="6343650" y="2382738"/>
            <a:ext cx="11241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38"/>
          <p:cNvSpPr/>
          <p:nvPr/>
        </p:nvSpPr>
        <p:spPr>
          <a:xfrm>
            <a:off x="7467600" y="2382738"/>
            <a:ext cx="22074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38"/>
          <p:cNvSpPr/>
          <p:nvPr/>
        </p:nvSpPr>
        <p:spPr>
          <a:xfrm>
            <a:off x="9674869" y="2382738"/>
            <a:ext cx="7500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38"/>
          <p:cNvSpPr/>
          <p:nvPr/>
        </p:nvSpPr>
        <p:spPr>
          <a:xfrm>
            <a:off x="10424963" y="2382738"/>
            <a:ext cx="11766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38"/>
          <p:cNvSpPr/>
          <p:nvPr/>
        </p:nvSpPr>
        <p:spPr>
          <a:xfrm>
            <a:off x="6343650" y="3059013"/>
            <a:ext cx="1124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8"/>
          <p:cNvSpPr/>
          <p:nvPr/>
        </p:nvSpPr>
        <p:spPr>
          <a:xfrm>
            <a:off x="7467600" y="3059013"/>
            <a:ext cx="22074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38"/>
          <p:cNvSpPr/>
          <p:nvPr/>
        </p:nvSpPr>
        <p:spPr>
          <a:xfrm>
            <a:off x="9674869" y="3059013"/>
            <a:ext cx="7500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38"/>
          <p:cNvSpPr/>
          <p:nvPr/>
        </p:nvSpPr>
        <p:spPr>
          <a:xfrm>
            <a:off x="10424963" y="3059013"/>
            <a:ext cx="11766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38"/>
          <p:cNvSpPr/>
          <p:nvPr/>
        </p:nvSpPr>
        <p:spPr>
          <a:xfrm>
            <a:off x="6343650" y="3735288"/>
            <a:ext cx="1124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38"/>
          <p:cNvSpPr/>
          <p:nvPr/>
        </p:nvSpPr>
        <p:spPr>
          <a:xfrm>
            <a:off x="7467600" y="3735288"/>
            <a:ext cx="22074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38"/>
          <p:cNvSpPr/>
          <p:nvPr/>
        </p:nvSpPr>
        <p:spPr>
          <a:xfrm>
            <a:off x="9674869" y="3735288"/>
            <a:ext cx="7500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38"/>
          <p:cNvSpPr/>
          <p:nvPr/>
        </p:nvSpPr>
        <p:spPr>
          <a:xfrm>
            <a:off x="10424963" y="3735288"/>
            <a:ext cx="11766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38"/>
          <p:cNvSpPr/>
          <p:nvPr/>
        </p:nvSpPr>
        <p:spPr>
          <a:xfrm>
            <a:off x="6343650" y="4411563"/>
            <a:ext cx="1124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8"/>
          <p:cNvSpPr/>
          <p:nvPr/>
        </p:nvSpPr>
        <p:spPr>
          <a:xfrm>
            <a:off x="7467600" y="4411563"/>
            <a:ext cx="22074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38"/>
          <p:cNvSpPr/>
          <p:nvPr/>
        </p:nvSpPr>
        <p:spPr>
          <a:xfrm>
            <a:off x="9674869" y="4411563"/>
            <a:ext cx="7500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38"/>
          <p:cNvSpPr/>
          <p:nvPr/>
        </p:nvSpPr>
        <p:spPr>
          <a:xfrm>
            <a:off x="10424963" y="4411563"/>
            <a:ext cx="11766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38"/>
          <p:cNvSpPr/>
          <p:nvPr/>
        </p:nvSpPr>
        <p:spPr>
          <a:xfrm>
            <a:off x="6343650" y="5087838"/>
            <a:ext cx="1124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8"/>
          <p:cNvSpPr/>
          <p:nvPr/>
        </p:nvSpPr>
        <p:spPr>
          <a:xfrm>
            <a:off x="7467600" y="5087838"/>
            <a:ext cx="22074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38"/>
          <p:cNvSpPr/>
          <p:nvPr/>
        </p:nvSpPr>
        <p:spPr>
          <a:xfrm>
            <a:off x="9674869" y="5087838"/>
            <a:ext cx="7500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38"/>
          <p:cNvSpPr/>
          <p:nvPr/>
        </p:nvSpPr>
        <p:spPr>
          <a:xfrm>
            <a:off x="10424963" y="5087838"/>
            <a:ext cx="11766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38"/>
          <p:cNvSpPr/>
          <p:nvPr/>
        </p:nvSpPr>
        <p:spPr>
          <a:xfrm>
            <a:off x="6343650" y="5764113"/>
            <a:ext cx="1124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8"/>
          <p:cNvSpPr/>
          <p:nvPr/>
        </p:nvSpPr>
        <p:spPr>
          <a:xfrm>
            <a:off x="7467600" y="5764113"/>
            <a:ext cx="22074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38"/>
          <p:cNvSpPr/>
          <p:nvPr/>
        </p:nvSpPr>
        <p:spPr>
          <a:xfrm>
            <a:off x="9674869" y="5764113"/>
            <a:ext cx="7500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38"/>
          <p:cNvSpPr/>
          <p:nvPr/>
        </p:nvSpPr>
        <p:spPr>
          <a:xfrm>
            <a:off x="10424963" y="5764113"/>
            <a:ext cx="11766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descr="image.png" id="462" name="Google Shape;462;p3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3" name="Google Shape;463;p39"/>
          <p:cNvPicPr preferRelativeResize="0"/>
          <p:nvPr/>
        </p:nvPicPr>
        <p:blipFill rotWithShape="1">
          <a:blip r:embed="rId4">
            <a:alphaModFix/>
          </a:blip>
          <a:srcRect b="0" l="0" r="0" t="0"/>
          <a:stretch/>
        </p:blipFill>
        <p:spPr>
          <a:xfrm>
            <a:off x="581025" y="1900981"/>
            <a:ext cx="11029950" cy="588615"/>
          </a:xfrm>
          <a:prstGeom prst="rect">
            <a:avLst/>
          </a:prstGeom>
          <a:noFill/>
          <a:ln>
            <a:noFill/>
          </a:ln>
        </p:spPr>
      </p:pic>
      <p:pic>
        <p:nvPicPr>
          <p:cNvPr descr="image.png" id="464" name="Google Shape;464;p39"/>
          <p:cNvPicPr preferRelativeResize="0"/>
          <p:nvPr/>
        </p:nvPicPr>
        <p:blipFill rotWithShape="1">
          <a:blip r:embed="rId5">
            <a:alphaModFix/>
          </a:blip>
          <a:srcRect b="0" l="0" r="0" t="0"/>
          <a:stretch/>
        </p:blipFill>
        <p:spPr>
          <a:xfrm>
            <a:off x="581025" y="2965846"/>
            <a:ext cx="5276850" cy="3406378"/>
          </a:xfrm>
          <a:prstGeom prst="rect">
            <a:avLst/>
          </a:prstGeom>
          <a:noFill/>
          <a:ln>
            <a:noFill/>
          </a:ln>
        </p:spPr>
      </p:pic>
      <p:pic>
        <p:nvPicPr>
          <p:cNvPr descr="image.png" id="465" name="Google Shape;465;p39"/>
          <p:cNvPicPr preferRelativeResize="0"/>
          <p:nvPr/>
        </p:nvPicPr>
        <p:blipFill rotWithShape="1">
          <a:blip r:embed="rId6">
            <a:alphaModFix/>
          </a:blip>
          <a:srcRect b="0" l="0" r="0" t="0"/>
          <a:stretch/>
        </p:blipFill>
        <p:spPr>
          <a:xfrm>
            <a:off x="6334125" y="2965846"/>
            <a:ext cx="5276850" cy="3406378"/>
          </a:xfrm>
          <a:prstGeom prst="rect">
            <a:avLst/>
          </a:prstGeom>
          <a:noFill/>
          <a:ln>
            <a:noFill/>
          </a:ln>
        </p:spPr>
      </p:pic>
      <p:sp>
        <p:nvSpPr>
          <p:cNvPr id="466" name="Google Shape;466;p39"/>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Student Training: The Loss Function</a:t>
            </a:r>
            <a:endParaRPr/>
          </a:p>
        </p:txBody>
      </p:sp>
      <p:sp>
        <p:nvSpPr>
          <p:cNvPr id="467" name="Google Shape;467;p39"/>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39"/>
          <p:cNvSpPr txBox="1"/>
          <p:nvPr/>
        </p:nvSpPr>
        <p:spPr>
          <a:xfrm>
            <a:off x="581025" y="1306710"/>
            <a:ext cx="110301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employ a </a:t>
            </a:r>
            <a:r>
              <a:rPr b="1" i="0" lang="en-US" sz="1425" u="none" cap="none" strike="noStrike">
                <a:solidFill>
                  <a:srgbClr val="CBD5E1"/>
                </a:solidFill>
                <a:latin typeface="Manrope"/>
                <a:ea typeface="Manrope"/>
                <a:cs typeface="Manrope"/>
                <a:sym typeface="Manrope"/>
              </a:rPr>
              <a:t>Mixed Supervision</a:t>
            </a:r>
            <a:r>
              <a:rPr b="0" i="0" lang="en-US" sz="1425" u="none" cap="none" strike="noStrike">
                <a:solidFill>
                  <a:srgbClr val="CBD5E1"/>
                </a:solidFill>
                <a:latin typeface="Manrope"/>
                <a:ea typeface="Manrope"/>
                <a:cs typeface="Manrope"/>
                <a:sym typeface="Manrope"/>
              </a:rPr>
              <a:t> objective that combines ground-truth hard labels with teacher soft targets.</a:t>
            </a:r>
            <a:endParaRPr/>
          </a:p>
        </p:txBody>
      </p:sp>
      <p:pic>
        <p:nvPicPr>
          <p:cNvPr descr="image.png" id="469" name="Google Shape;469;p39"/>
          <p:cNvPicPr preferRelativeResize="0"/>
          <p:nvPr/>
        </p:nvPicPr>
        <p:blipFill rotWithShape="1">
          <a:blip r:embed="rId7">
            <a:alphaModFix/>
          </a:blip>
          <a:srcRect b="0" l="0" r="0" t="0"/>
          <a:stretch/>
        </p:blipFill>
        <p:spPr>
          <a:xfrm>
            <a:off x="809625" y="2091481"/>
            <a:ext cx="10610849" cy="207615"/>
          </a:xfrm>
          <a:prstGeom prst="rect">
            <a:avLst/>
          </a:prstGeom>
          <a:noFill/>
          <a:ln>
            <a:noFill/>
          </a:ln>
        </p:spPr>
      </p:pic>
      <p:sp>
        <p:nvSpPr>
          <p:cNvPr id="470" name="Google Shape;470;p39"/>
          <p:cNvSpPr txBox="1"/>
          <p:nvPr/>
        </p:nvSpPr>
        <p:spPr>
          <a:xfrm>
            <a:off x="1428750" y="3293734"/>
            <a:ext cx="488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 Cross Entropy</a:t>
            </a:r>
            <a:endParaRPr/>
          </a:p>
        </p:txBody>
      </p:sp>
      <p:sp>
        <p:nvSpPr>
          <p:cNvPr id="471" name="Google Shape;471;p39"/>
          <p:cNvSpPr txBox="1"/>
          <p:nvPr/>
        </p:nvSpPr>
        <p:spPr>
          <a:xfrm>
            <a:off x="895350" y="3704927"/>
            <a:ext cx="46482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Standard classification loss against the hard ground-truth label (Polarized vs Not Polarized).</a:t>
            </a:r>
            <a:endParaRPr/>
          </a:p>
        </p:txBody>
      </p:sp>
      <p:sp>
        <p:nvSpPr>
          <p:cNvPr id="472" name="Google Shape;472;p39"/>
          <p:cNvSpPr txBox="1"/>
          <p:nvPr/>
        </p:nvSpPr>
        <p:spPr>
          <a:xfrm>
            <a:off x="895350" y="4398168"/>
            <a:ext cx="46482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Goal:</a:t>
            </a:r>
            <a:r>
              <a:rPr b="0" i="0" lang="en-US" sz="1425" u="none" cap="none" strike="noStrike">
                <a:solidFill>
                  <a:srgbClr val="CBD5E1"/>
                </a:solidFill>
                <a:latin typeface="Manrope"/>
                <a:ea typeface="Manrope"/>
                <a:cs typeface="Manrope"/>
                <a:sym typeface="Manrope"/>
              </a:rPr>
              <a:t> Correctness.</a:t>
            </a:r>
            <a:endParaRPr/>
          </a:p>
        </p:txBody>
      </p:sp>
      <p:sp>
        <p:nvSpPr>
          <p:cNvPr id="473" name="Google Shape;473;p39"/>
          <p:cNvSpPr txBox="1"/>
          <p:nvPr/>
        </p:nvSpPr>
        <p:spPr>
          <a:xfrm>
            <a:off x="7181850" y="3278846"/>
            <a:ext cx="488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 KL Divergence</a:t>
            </a:r>
            <a:endParaRPr/>
          </a:p>
        </p:txBody>
      </p:sp>
      <p:sp>
        <p:nvSpPr>
          <p:cNvPr id="474" name="Google Shape;474;p39"/>
          <p:cNvSpPr txBox="1"/>
          <p:nvPr/>
        </p:nvSpPr>
        <p:spPr>
          <a:xfrm>
            <a:off x="6648450" y="3704927"/>
            <a:ext cx="46482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Distillation loss minimizing the difference between the Student's output and the Teacher's probability distribution.</a:t>
            </a:r>
            <a:endParaRPr/>
          </a:p>
        </p:txBody>
      </p:sp>
      <p:sp>
        <p:nvSpPr>
          <p:cNvPr id="475" name="Google Shape;475;p39"/>
          <p:cNvSpPr txBox="1"/>
          <p:nvPr/>
        </p:nvSpPr>
        <p:spPr>
          <a:xfrm>
            <a:off x="6648450" y="4687639"/>
            <a:ext cx="46482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Goal:</a:t>
            </a:r>
            <a:r>
              <a:rPr b="0" i="0" lang="en-US" sz="1425" u="none" cap="none" strike="noStrike">
                <a:solidFill>
                  <a:srgbClr val="CBD5E1"/>
                </a:solidFill>
                <a:latin typeface="Manrope"/>
                <a:ea typeface="Manrope"/>
                <a:cs typeface="Manrope"/>
                <a:sym typeface="Manrope"/>
              </a:rPr>
              <a:t> Mimicry &amp; Generalization.</a:t>
            </a:r>
            <a:endParaRPr/>
          </a:p>
        </p:txBody>
      </p:sp>
      <p:pic>
        <p:nvPicPr>
          <p:cNvPr descr="image.png" id="476" name="Google Shape;476;p39"/>
          <p:cNvPicPr preferRelativeResize="0"/>
          <p:nvPr/>
        </p:nvPicPr>
        <p:blipFill rotWithShape="1">
          <a:blip r:embed="rId8">
            <a:alphaModFix/>
          </a:blip>
          <a:srcRect b="0" l="0" r="0" t="0"/>
          <a:stretch/>
        </p:blipFill>
        <p:spPr>
          <a:xfrm>
            <a:off x="895350" y="3318271"/>
            <a:ext cx="533400" cy="276225"/>
          </a:xfrm>
          <a:prstGeom prst="rect">
            <a:avLst/>
          </a:prstGeom>
          <a:noFill/>
          <a:ln>
            <a:noFill/>
          </a:ln>
        </p:spPr>
      </p:pic>
      <p:pic>
        <p:nvPicPr>
          <p:cNvPr descr="image.png" id="477" name="Google Shape;477;p39"/>
          <p:cNvPicPr preferRelativeResize="0"/>
          <p:nvPr/>
        </p:nvPicPr>
        <p:blipFill rotWithShape="1">
          <a:blip r:embed="rId9">
            <a:alphaModFix/>
          </a:blip>
          <a:srcRect b="0" l="0" r="0" t="0"/>
          <a:stretch/>
        </p:blipFill>
        <p:spPr>
          <a:xfrm>
            <a:off x="6648450" y="3290896"/>
            <a:ext cx="533400" cy="276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image.png" id="482" name="Google Shape;482;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83" name="Google Shape;483;p40"/>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Student Training: "Partial Distillation"</a:t>
            </a:r>
            <a:endParaRPr/>
          </a:p>
        </p:txBody>
      </p:sp>
      <p:sp>
        <p:nvSpPr>
          <p:cNvPr id="484" name="Google Shape;484;p40"/>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40"/>
          <p:cNvSpPr txBox="1"/>
          <p:nvPr/>
        </p:nvSpPr>
        <p:spPr>
          <a:xfrm>
            <a:off x="581025" y="5669458"/>
            <a:ext cx="11030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Why this matters:</a:t>
            </a:r>
            <a:r>
              <a:rPr b="0" i="0" lang="en-US" sz="1425" u="none" cap="none" strike="noStrike">
                <a:solidFill>
                  <a:srgbClr val="CBD5E1"/>
                </a:solidFill>
                <a:latin typeface="Manrope"/>
                <a:ea typeface="Manrope"/>
                <a:cs typeface="Manrope"/>
                <a:sym typeface="Manrope"/>
              </a:rPr>
              <a:t> Dropping these rows would have biased the model against harder-to-translate languages. Our method ensures 100% data coverage while maximizing teacher utilization.</a:t>
            </a:r>
            <a:endParaRPr/>
          </a:p>
        </p:txBody>
      </p:sp>
      <p:sp>
        <p:nvSpPr>
          <p:cNvPr id="486" name="Google Shape;486;p40"/>
          <p:cNvSpPr/>
          <p:nvPr/>
        </p:nvSpPr>
        <p:spPr>
          <a:xfrm>
            <a:off x="581025" y="5478958"/>
            <a:ext cx="11030100" cy="9600"/>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40"/>
          <p:cNvSpPr txBox="1"/>
          <p:nvPr/>
        </p:nvSpPr>
        <p:spPr>
          <a:xfrm>
            <a:off x="581025" y="2690961"/>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Problem</a:t>
            </a:r>
            <a:endParaRPr/>
          </a:p>
        </p:txBody>
      </p:sp>
      <p:sp>
        <p:nvSpPr>
          <p:cNvPr id="488" name="Google Shape;488;p40"/>
          <p:cNvSpPr txBox="1"/>
          <p:nvPr/>
        </p:nvSpPr>
        <p:spPr>
          <a:xfrm>
            <a:off x="581025" y="3115716"/>
            <a:ext cx="52770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Due to translation failures, ~5,700 rows (7.4%) lacked the</a:t>
            </a:r>
            <a:r>
              <a:rPr lang="en-US" sz="1425">
                <a:solidFill>
                  <a:srgbClr val="CBD5E1"/>
                </a:solidFill>
                <a:latin typeface="Manrope"/>
                <a:ea typeface="Manrope"/>
                <a:cs typeface="Manrope"/>
                <a:sym typeface="Manrope"/>
              </a:rPr>
              <a:t>                       .                        </a:t>
            </a:r>
            <a:r>
              <a:rPr b="0" i="0" lang="en-US" sz="1425" u="none" cap="none" strike="noStrike">
                <a:solidFill>
                  <a:srgbClr val="CBD5E1"/>
                </a:solidFill>
                <a:latin typeface="Manrope"/>
                <a:ea typeface="Manrope"/>
                <a:cs typeface="Manrope"/>
                <a:sym typeface="Manrope"/>
              </a:rPr>
              <a:t>required to get a valid prediction from the Teacher.</a:t>
            </a:r>
            <a:endParaRPr/>
          </a:p>
        </p:txBody>
      </p:sp>
      <p:sp>
        <p:nvSpPr>
          <p:cNvPr id="489" name="Google Shape;489;p40"/>
          <p:cNvSpPr txBox="1"/>
          <p:nvPr/>
        </p:nvSpPr>
        <p:spPr>
          <a:xfrm>
            <a:off x="6334125" y="2142380"/>
            <a:ext cx="5540700" cy="30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The Solution: Conditional Loss</a:t>
            </a:r>
            <a:endParaRPr/>
          </a:p>
        </p:txBody>
      </p:sp>
      <p:sp>
        <p:nvSpPr>
          <p:cNvPr id="490" name="Google Shape;490;p40"/>
          <p:cNvSpPr txBox="1"/>
          <p:nvPr/>
        </p:nvSpPr>
        <p:spPr>
          <a:xfrm>
            <a:off x="6334125" y="2567136"/>
            <a:ext cx="52770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We implemented a dynamic switch in the training loop:</a:t>
            </a:r>
            <a:endParaRPr/>
          </a:p>
        </p:txBody>
      </p:sp>
      <p:pic>
        <p:nvPicPr>
          <p:cNvPr descr="image.png" id="491" name="Google Shape;491;p40"/>
          <p:cNvPicPr preferRelativeResize="0"/>
          <p:nvPr/>
        </p:nvPicPr>
        <p:blipFill rotWithShape="1">
          <a:blip r:embed="rId4">
            <a:alphaModFix/>
          </a:blip>
          <a:srcRect b="0" l="0" r="0" t="0"/>
          <a:stretch/>
        </p:blipFill>
        <p:spPr>
          <a:xfrm>
            <a:off x="581025" y="3429012"/>
            <a:ext cx="819150" cy="276225"/>
          </a:xfrm>
          <a:prstGeom prst="rect">
            <a:avLst/>
          </a:prstGeom>
          <a:noFill/>
          <a:ln>
            <a:noFill/>
          </a:ln>
        </p:spPr>
      </p:pic>
      <p:sp>
        <p:nvSpPr>
          <p:cNvPr id="492" name="Google Shape;492;p40"/>
          <p:cNvSpPr txBox="1"/>
          <p:nvPr/>
        </p:nvSpPr>
        <p:spPr>
          <a:xfrm>
            <a:off x="6562725" y="2970907"/>
            <a:ext cx="5048400" cy="497100"/>
          </a:xfrm>
          <a:prstGeom prst="rect">
            <a:avLst/>
          </a:prstGeom>
          <a:noFill/>
          <a:ln>
            <a:noFill/>
          </a:ln>
        </p:spPr>
        <p:txBody>
          <a:bodyPr anchorCtr="0" anchor="t" bIns="0" lIns="0" spcFirstLastPara="1" rIns="0" wrap="square" tIns="0">
            <a:spAutoFit/>
          </a:bodyPr>
          <a:lstStyle/>
          <a:p>
            <a:pPr indent="0" lvl="0" marL="0" marR="0" rtl="0" algn="l">
              <a:lnSpc>
                <a:spcPct val="126611"/>
              </a:lnSpc>
              <a:spcBef>
                <a:spcPts val="0"/>
              </a:spcBef>
              <a:spcAft>
                <a:spcPts val="0"/>
              </a:spcAft>
              <a:buNone/>
            </a:pPr>
            <a:r>
              <a:rPr b="1" i="0" lang="en-US" sz="1425" u="none" cap="none" strike="noStrike">
                <a:solidFill>
                  <a:srgbClr val="CBD5E1"/>
                </a:solidFill>
                <a:latin typeface="Manrope"/>
                <a:ea typeface="Manrope"/>
                <a:cs typeface="Manrope"/>
                <a:sym typeface="Manrope"/>
              </a:rPr>
              <a:t>If Translation Exists:</a:t>
            </a:r>
            <a:r>
              <a:rPr b="0" i="0" lang="en-US" sz="1425" u="none" cap="none" strike="noStrike">
                <a:solidFill>
                  <a:srgbClr val="CBD5E1"/>
                </a:solidFill>
                <a:latin typeface="Manrope"/>
                <a:ea typeface="Manrope"/>
                <a:cs typeface="Manrope"/>
                <a:sym typeface="Manrope"/>
              </a:rPr>
              <a:t> </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CBD5E1"/>
                </a:solidFill>
                <a:latin typeface="Manrope"/>
                <a:ea typeface="Manrope"/>
                <a:cs typeface="Manrope"/>
                <a:sym typeface="Manrope"/>
              </a:rPr>
              <a:t> Apply </a:t>
            </a:r>
            <a:r>
              <a:rPr b="0" i="0" lang="en-US" sz="1425" u="none" cap="none" strike="noStrike">
                <a:solidFill>
                  <a:srgbClr val="A5B4FC"/>
                </a:solidFill>
                <a:latin typeface="Manrope"/>
                <a:ea typeface="Manrope"/>
                <a:cs typeface="Manrope"/>
                <a:sym typeface="Manrope"/>
              </a:rPr>
              <a:t>Hard Label Loss + Distillation Loss</a:t>
            </a:r>
            <a:r>
              <a:rPr b="0" i="0" lang="en-US" sz="1425" u="none" cap="none" strike="noStrike">
                <a:solidFill>
                  <a:srgbClr val="CBD5E1"/>
                </a:solidFill>
                <a:latin typeface="Manrope"/>
                <a:ea typeface="Manrope"/>
                <a:cs typeface="Manrope"/>
                <a:sym typeface="Manrope"/>
              </a:rPr>
              <a:t>.</a:t>
            </a:r>
            <a:endParaRPr/>
          </a:p>
        </p:txBody>
      </p:sp>
      <p:sp>
        <p:nvSpPr>
          <p:cNvPr id="493" name="Google Shape;493;p40"/>
          <p:cNvSpPr txBox="1"/>
          <p:nvPr/>
        </p:nvSpPr>
        <p:spPr>
          <a:xfrm>
            <a:off x="6562725" y="3664148"/>
            <a:ext cx="5048400" cy="497100"/>
          </a:xfrm>
          <a:prstGeom prst="rect">
            <a:avLst/>
          </a:prstGeom>
          <a:noFill/>
          <a:ln>
            <a:noFill/>
          </a:ln>
        </p:spPr>
        <p:txBody>
          <a:bodyPr anchorCtr="0" anchor="t" bIns="0" lIns="0" spcFirstLastPara="1" rIns="0" wrap="square" tIns="0">
            <a:spAutoFit/>
          </a:bodyPr>
          <a:lstStyle/>
          <a:p>
            <a:pPr indent="0" lvl="0" marL="0" marR="0" rtl="0" algn="l">
              <a:lnSpc>
                <a:spcPct val="126611"/>
              </a:lnSpc>
              <a:spcBef>
                <a:spcPts val="0"/>
              </a:spcBef>
              <a:spcAft>
                <a:spcPts val="0"/>
              </a:spcAft>
              <a:buNone/>
            </a:pPr>
            <a:r>
              <a:rPr b="1" i="0" lang="en-US" sz="1425" u="none" cap="none" strike="noStrike">
                <a:solidFill>
                  <a:srgbClr val="CBD5E1"/>
                </a:solidFill>
                <a:latin typeface="Manrope"/>
                <a:ea typeface="Manrope"/>
                <a:cs typeface="Manrope"/>
                <a:sym typeface="Manrope"/>
              </a:rPr>
              <a:t>If Translation Missing:</a:t>
            </a:r>
            <a:r>
              <a:rPr b="0" i="0" lang="en-US" sz="1425" u="none" cap="none" strike="noStrike">
                <a:solidFill>
                  <a:srgbClr val="CBD5E1"/>
                </a:solidFill>
                <a:latin typeface="Manrope"/>
                <a:ea typeface="Manrope"/>
                <a:cs typeface="Manrope"/>
                <a:sym typeface="Manrope"/>
              </a:rPr>
              <a:t> </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CBD5E1"/>
                </a:solidFill>
                <a:latin typeface="Manrope"/>
                <a:ea typeface="Manrope"/>
                <a:cs typeface="Manrope"/>
                <a:sym typeface="Manrope"/>
              </a:rPr>
              <a:t> Apply </a:t>
            </a:r>
            <a:r>
              <a:rPr b="0" i="0" lang="en-US" sz="1425" u="none" cap="none" strike="noStrike">
                <a:solidFill>
                  <a:srgbClr val="A5B4FC"/>
                </a:solidFill>
                <a:latin typeface="Manrope"/>
                <a:ea typeface="Manrope"/>
                <a:cs typeface="Manrope"/>
                <a:sym typeface="Manrope"/>
              </a:rPr>
              <a:t>Hard Label Loss Only</a:t>
            </a:r>
            <a:r>
              <a:rPr b="0" i="0" lang="en-US" sz="1425" u="none" cap="none" strike="noStrike">
                <a:solidFill>
                  <a:srgbClr val="CBD5E1"/>
                </a:solidFill>
                <a:latin typeface="Manrope"/>
                <a:ea typeface="Manrope"/>
                <a:cs typeface="Manrope"/>
                <a:sym typeface="Manrope"/>
              </a:rPr>
              <a:t>.</a:t>
            </a:r>
            <a:endParaRPr/>
          </a:p>
        </p:txBody>
      </p:sp>
      <p:sp>
        <p:nvSpPr>
          <p:cNvPr id="494" name="Google Shape;494;p40"/>
          <p:cNvSpPr txBox="1"/>
          <p:nvPr/>
        </p:nvSpPr>
        <p:spPr>
          <a:xfrm>
            <a:off x="6334125" y="2951857"/>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495" name="Google Shape;495;p40"/>
          <p:cNvSpPr txBox="1"/>
          <p:nvPr/>
        </p:nvSpPr>
        <p:spPr>
          <a:xfrm>
            <a:off x="6334125" y="3645098"/>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descr="image.png" id="500" name="Google Shape;500;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1" name="Google Shape;501;p41"/>
          <p:cNvPicPr preferRelativeResize="0"/>
          <p:nvPr/>
        </p:nvPicPr>
        <p:blipFill rotWithShape="1">
          <a:blip r:embed="rId4">
            <a:alphaModFix/>
          </a:blip>
          <a:srcRect b="0" l="0" r="0" t="0"/>
          <a:stretch/>
        </p:blipFill>
        <p:spPr>
          <a:xfrm>
            <a:off x="581025" y="2402234"/>
            <a:ext cx="3517850" cy="2874317"/>
          </a:xfrm>
          <a:prstGeom prst="rect">
            <a:avLst/>
          </a:prstGeom>
          <a:noFill/>
          <a:ln>
            <a:noFill/>
          </a:ln>
        </p:spPr>
      </p:pic>
      <p:pic>
        <p:nvPicPr>
          <p:cNvPr descr="image.png" id="502" name="Google Shape;502;p41"/>
          <p:cNvPicPr preferRelativeResize="0"/>
          <p:nvPr/>
        </p:nvPicPr>
        <p:blipFill rotWithShape="1">
          <a:blip r:embed="rId5">
            <a:alphaModFix/>
          </a:blip>
          <a:srcRect b="0" l="0" r="0" t="0"/>
          <a:stretch/>
        </p:blipFill>
        <p:spPr>
          <a:xfrm>
            <a:off x="4337000" y="2402234"/>
            <a:ext cx="3517850" cy="2874317"/>
          </a:xfrm>
          <a:prstGeom prst="rect">
            <a:avLst/>
          </a:prstGeom>
          <a:noFill/>
          <a:ln>
            <a:noFill/>
          </a:ln>
        </p:spPr>
      </p:pic>
      <p:pic>
        <p:nvPicPr>
          <p:cNvPr descr="image.png" id="503" name="Google Shape;503;p41"/>
          <p:cNvPicPr preferRelativeResize="0"/>
          <p:nvPr/>
        </p:nvPicPr>
        <p:blipFill rotWithShape="1">
          <a:blip r:embed="rId5">
            <a:alphaModFix/>
          </a:blip>
          <a:srcRect b="0" l="0" r="0" t="0"/>
          <a:stretch/>
        </p:blipFill>
        <p:spPr>
          <a:xfrm>
            <a:off x="8092975" y="2402234"/>
            <a:ext cx="3517850" cy="2874317"/>
          </a:xfrm>
          <a:prstGeom prst="rect">
            <a:avLst/>
          </a:prstGeom>
          <a:noFill/>
          <a:ln>
            <a:noFill/>
          </a:ln>
        </p:spPr>
      </p:pic>
      <p:sp>
        <p:nvSpPr>
          <p:cNvPr id="504" name="Google Shape;504;p41"/>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Inference &amp; Submission Pipeline</a:t>
            </a:r>
            <a:endParaRPr/>
          </a:p>
        </p:txBody>
      </p:sp>
      <p:sp>
        <p:nvSpPr>
          <p:cNvPr id="505" name="Google Shape;505;p41"/>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06" name="Google Shape;506;p41"/>
          <p:cNvPicPr preferRelativeResize="0"/>
          <p:nvPr/>
        </p:nvPicPr>
        <p:blipFill rotWithShape="1">
          <a:blip r:embed="rId6">
            <a:alphaModFix/>
          </a:blip>
          <a:srcRect b="0" l="0" r="0" t="0"/>
          <a:stretch/>
        </p:blipFill>
        <p:spPr>
          <a:xfrm>
            <a:off x="2006500" y="2649884"/>
            <a:ext cx="666750" cy="666750"/>
          </a:xfrm>
          <a:prstGeom prst="rect">
            <a:avLst/>
          </a:prstGeom>
          <a:noFill/>
          <a:ln>
            <a:noFill/>
          </a:ln>
        </p:spPr>
      </p:pic>
      <p:sp>
        <p:nvSpPr>
          <p:cNvPr id="507" name="Google Shape;507;p41"/>
          <p:cNvSpPr txBox="1"/>
          <p:nvPr/>
        </p:nvSpPr>
        <p:spPr>
          <a:xfrm>
            <a:off x="753111" y="3507134"/>
            <a:ext cx="3173700" cy="30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1. Load Student</a:t>
            </a:r>
            <a:endParaRPr/>
          </a:p>
        </p:txBody>
      </p:sp>
      <p:sp>
        <p:nvSpPr>
          <p:cNvPr id="508" name="Google Shape;508;p41"/>
          <p:cNvSpPr txBox="1"/>
          <p:nvPr/>
        </p:nvSpPr>
        <p:spPr>
          <a:xfrm>
            <a:off x="828675" y="3931890"/>
            <a:ext cx="3022500" cy="9210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Load the fine-tuned XLM-R Base model (Teacher is no longer needed).</a:t>
            </a:r>
            <a:endParaRPr/>
          </a:p>
        </p:txBody>
      </p:sp>
      <p:pic>
        <p:nvPicPr>
          <p:cNvPr descr="image.png" id="509" name="Google Shape;509;p41"/>
          <p:cNvPicPr preferRelativeResize="0"/>
          <p:nvPr/>
        </p:nvPicPr>
        <p:blipFill rotWithShape="1">
          <a:blip r:embed="rId7">
            <a:alphaModFix/>
          </a:blip>
          <a:srcRect b="0" l="0" r="0" t="0"/>
          <a:stretch/>
        </p:blipFill>
        <p:spPr>
          <a:xfrm>
            <a:off x="5762476" y="2649884"/>
            <a:ext cx="666750" cy="666750"/>
          </a:xfrm>
          <a:prstGeom prst="rect">
            <a:avLst/>
          </a:prstGeom>
          <a:noFill/>
          <a:ln>
            <a:noFill/>
          </a:ln>
        </p:spPr>
      </p:pic>
      <p:sp>
        <p:nvSpPr>
          <p:cNvPr id="510" name="Google Shape;510;p41"/>
          <p:cNvSpPr txBox="1"/>
          <p:nvPr/>
        </p:nvSpPr>
        <p:spPr>
          <a:xfrm>
            <a:off x="4509086" y="3507134"/>
            <a:ext cx="3173700" cy="30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2. Process Languages</a:t>
            </a:r>
            <a:endParaRPr/>
          </a:p>
        </p:txBody>
      </p:sp>
      <p:sp>
        <p:nvSpPr>
          <p:cNvPr id="511" name="Google Shape;511;p41"/>
          <p:cNvSpPr txBox="1"/>
          <p:nvPr/>
        </p:nvSpPr>
        <p:spPr>
          <a:xfrm>
            <a:off x="4584650" y="3931890"/>
            <a:ext cx="3022500" cy="5700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Iterate through all 22 evaluation files.</a:t>
            </a:r>
            <a:endParaRPr/>
          </a:p>
        </p:txBody>
      </p:sp>
      <p:sp>
        <p:nvSpPr>
          <p:cNvPr id="512" name="Google Shape;512;p41"/>
          <p:cNvSpPr txBox="1"/>
          <p:nvPr/>
        </p:nvSpPr>
        <p:spPr>
          <a:xfrm>
            <a:off x="4584650" y="4625131"/>
            <a:ext cx="30225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Input raw text directly to the model.</a:t>
            </a:r>
            <a:endParaRPr/>
          </a:p>
        </p:txBody>
      </p:sp>
      <p:pic>
        <p:nvPicPr>
          <p:cNvPr descr="image.png" id="513" name="Google Shape;513;p41"/>
          <p:cNvPicPr preferRelativeResize="0"/>
          <p:nvPr/>
        </p:nvPicPr>
        <p:blipFill rotWithShape="1">
          <a:blip r:embed="rId8">
            <a:alphaModFix/>
          </a:blip>
          <a:srcRect b="0" l="0" r="0" t="0"/>
          <a:stretch/>
        </p:blipFill>
        <p:spPr>
          <a:xfrm>
            <a:off x="9518451" y="2649884"/>
            <a:ext cx="666750" cy="666750"/>
          </a:xfrm>
          <a:prstGeom prst="rect">
            <a:avLst/>
          </a:prstGeom>
          <a:noFill/>
          <a:ln>
            <a:noFill/>
          </a:ln>
        </p:spPr>
      </p:pic>
      <p:sp>
        <p:nvSpPr>
          <p:cNvPr id="514" name="Google Shape;514;p41"/>
          <p:cNvSpPr txBox="1"/>
          <p:nvPr/>
        </p:nvSpPr>
        <p:spPr>
          <a:xfrm>
            <a:off x="8265062" y="3507134"/>
            <a:ext cx="3173700" cy="30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3. Format &amp; Zip</a:t>
            </a:r>
            <a:endParaRPr/>
          </a:p>
        </p:txBody>
      </p:sp>
      <p:sp>
        <p:nvSpPr>
          <p:cNvPr id="515" name="Google Shape;515;p41"/>
          <p:cNvSpPr txBox="1"/>
          <p:nvPr/>
        </p:nvSpPr>
        <p:spPr>
          <a:xfrm>
            <a:off x="8340625" y="3931890"/>
            <a:ext cx="3022500" cy="5700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Generate files with (id, polarization) columns.</a:t>
            </a:r>
            <a:endParaRPr/>
          </a:p>
        </p:txBody>
      </p:sp>
      <p:sp>
        <p:nvSpPr>
          <p:cNvPr id="516" name="Google Shape;516;p41"/>
          <p:cNvSpPr txBox="1"/>
          <p:nvPr/>
        </p:nvSpPr>
        <p:spPr>
          <a:xfrm>
            <a:off x="8340625" y="4625131"/>
            <a:ext cx="30225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Zip for Codabench.</a:t>
            </a:r>
            <a:endParaRPr/>
          </a:p>
        </p:txBody>
      </p:sp>
      <p:pic>
        <p:nvPicPr>
          <p:cNvPr descr="image.png" id="517" name="Google Shape;517;p41"/>
          <p:cNvPicPr preferRelativeResize="0"/>
          <p:nvPr/>
        </p:nvPicPr>
        <p:blipFill rotWithShape="1">
          <a:blip r:embed="rId9">
            <a:alphaModFix/>
          </a:blip>
          <a:srcRect b="0" l="0" r="0" t="0"/>
          <a:stretch/>
        </p:blipFill>
        <p:spPr>
          <a:xfrm>
            <a:off x="2197000" y="2792759"/>
            <a:ext cx="285750" cy="381000"/>
          </a:xfrm>
          <a:prstGeom prst="rect">
            <a:avLst/>
          </a:prstGeom>
          <a:noFill/>
          <a:ln>
            <a:noFill/>
          </a:ln>
        </p:spPr>
      </p:pic>
      <p:pic>
        <p:nvPicPr>
          <p:cNvPr descr="image.png" id="518" name="Google Shape;518;p41"/>
          <p:cNvPicPr preferRelativeResize="0"/>
          <p:nvPr/>
        </p:nvPicPr>
        <p:blipFill rotWithShape="1">
          <a:blip r:embed="rId10">
            <a:alphaModFix/>
          </a:blip>
          <a:srcRect b="0" l="0" r="0" t="0"/>
          <a:stretch/>
        </p:blipFill>
        <p:spPr>
          <a:xfrm>
            <a:off x="5905351" y="2792759"/>
            <a:ext cx="381000" cy="381000"/>
          </a:xfrm>
          <a:prstGeom prst="rect">
            <a:avLst/>
          </a:prstGeom>
          <a:noFill/>
          <a:ln>
            <a:noFill/>
          </a:ln>
        </p:spPr>
      </p:pic>
      <p:pic>
        <p:nvPicPr>
          <p:cNvPr descr="image.png" id="519" name="Google Shape;519;p41"/>
          <p:cNvPicPr preferRelativeResize="0"/>
          <p:nvPr/>
        </p:nvPicPr>
        <p:blipFill rotWithShape="1">
          <a:blip r:embed="rId11">
            <a:alphaModFix/>
          </a:blip>
          <a:srcRect b="0" l="0" r="0" t="0"/>
          <a:stretch/>
        </p:blipFill>
        <p:spPr>
          <a:xfrm>
            <a:off x="9708951" y="2792759"/>
            <a:ext cx="285750" cy="381000"/>
          </a:xfrm>
          <a:prstGeom prst="rect">
            <a:avLst/>
          </a:prstGeom>
          <a:noFill/>
          <a:ln>
            <a:noFill/>
          </a:ln>
        </p:spPr>
      </p:pic>
      <p:pic>
        <p:nvPicPr>
          <p:cNvPr descr="image.png" id="520" name="Google Shape;520;p41"/>
          <p:cNvPicPr preferRelativeResize="0"/>
          <p:nvPr/>
        </p:nvPicPr>
        <p:blipFill rotWithShape="1">
          <a:blip r:embed="rId12">
            <a:alphaModFix/>
          </a:blip>
          <a:srcRect b="0" l="0" r="0" t="0"/>
          <a:stretch/>
        </p:blipFill>
        <p:spPr>
          <a:xfrm>
            <a:off x="9061314" y="4967640"/>
            <a:ext cx="1581150" cy="276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descr="image.png" id="525" name="Google Shape;525;p42"/>
          <p:cNvPicPr preferRelativeResize="0"/>
          <p:nvPr/>
        </p:nvPicPr>
        <p:blipFill rotWithShape="1">
          <a:blip r:embed="rId3">
            <a:alphaModFix/>
          </a:blip>
          <a:srcRect b="0" l="0" r="0" t="0"/>
          <a:stretch/>
        </p:blipFill>
        <p:spPr>
          <a:xfrm>
            <a:off x="16144" y="0"/>
            <a:ext cx="12192000" cy="6858000"/>
          </a:xfrm>
          <a:prstGeom prst="rect">
            <a:avLst/>
          </a:prstGeom>
          <a:noFill/>
          <a:ln>
            <a:noFill/>
          </a:ln>
        </p:spPr>
      </p:pic>
      <p:sp>
        <p:nvSpPr>
          <p:cNvPr id="526" name="Google Shape;526;p42"/>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Results: Internal Validation</a:t>
            </a:r>
            <a:endParaRPr/>
          </a:p>
        </p:txBody>
      </p:sp>
      <p:sp>
        <p:nvSpPr>
          <p:cNvPr id="527" name="Google Shape;527;p42"/>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42"/>
          <p:cNvSpPr txBox="1"/>
          <p:nvPr/>
        </p:nvSpPr>
        <p:spPr>
          <a:xfrm>
            <a:off x="581025" y="2005905"/>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Training Dynamics</a:t>
            </a:r>
            <a:endParaRPr/>
          </a:p>
        </p:txBody>
      </p:sp>
      <p:graphicFrame>
        <p:nvGraphicFramePr>
          <p:cNvPr id="529" name="Google Shape;529;p42"/>
          <p:cNvGraphicFramePr/>
          <p:nvPr/>
        </p:nvGraphicFramePr>
        <p:xfrm>
          <a:off x="581025" y="2430660"/>
          <a:ext cx="3000000" cy="3000000"/>
        </p:xfrm>
        <a:graphic>
          <a:graphicData uri="http://schemas.openxmlformats.org/drawingml/2006/table">
            <a:tbl>
              <a:tblPr bandRow="1" firstRow="1">
                <a:noFill/>
                <a:tableStyleId>{E0E25B36-2C86-4994-86C3-6929DEDAE696}</a:tableStyleId>
              </a:tblPr>
              <a:tblGrid>
                <a:gridCol w="1087350"/>
                <a:gridCol w="1534275"/>
                <a:gridCol w="1294050"/>
                <a:gridCol w="1361175"/>
              </a:tblGrid>
              <a:tr h="529600">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Epoch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Train Loss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Val Loss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Macro F1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r>
              <a:tr h="52960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0.4643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0.4374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0.7910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960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0.4129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0.4219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0.7964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960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366F1"/>
                    </a:solidFill>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0.3839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366F1"/>
                    </a:solidFill>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0.4255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366F1"/>
                    </a:solidFill>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0.8100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366F1"/>
                    </a:solidFill>
                  </a:tcPr>
                </a:tc>
              </a:tr>
              <a:tr h="52960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0.3558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0.4507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0.8089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0" name="Google Shape;530;p42"/>
          <p:cNvSpPr txBox="1"/>
          <p:nvPr/>
        </p:nvSpPr>
        <p:spPr>
          <a:xfrm>
            <a:off x="581025" y="5269110"/>
            <a:ext cx="52768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Selected Epoch 3:</a:t>
            </a:r>
            <a:r>
              <a:rPr b="0" i="0" lang="en-US" sz="1425" u="none" cap="none" strike="noStrike">
                <a:solidFill>
                  <a:srgbClr val="CBD5E1"/>
                </a:solidFill>
                <a:latin typeface="Manrope"/>
                <a:ea typeface="Manrope"/>
                <a:cs typeface="Manrope"/>
                <a:sym typeface="Manrope"/>
              </a:rPr>
              <a:t> Best balance of loss and F1 score.</a:t>
            </a:r>
            <a:endParaRPr/>
          </a:p>
        </p:txBody>
      </p:sp>
      <p:sp>
        <p:nvSpPr>
          <p:cNvPr id="531" name="Google Shape;531;p42"/>
          <p:cNvSpPr txBox="1"/>
          <p:nvPr/>
        </p:nvSpPr>
        <p:spPr>
          <a:xfrm>
            <a:off x="6334125" y="2819548"/>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Key Metrics (Epoch 3)</a:t>
            </a:r>
            <a:endParaRPr/>
          </a:p>
        </p:txBody>
      </p:sp>
      <p:sp>
        <p:nvSpPr>
          <p:cNvPr id="532" name="Google Shape;532;p42"/>
          <p:cNvSpPr txBox="1"/>
          <p:nvPr/>
        </p:nvSpPr>
        <p:spPr>
          <a:xfrm>
            <a:off x="6562725" y="3244304"/>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Accuracy:</a:t>
            </a:r>
            <a:r>
              <a:rPr b="0" i="0" lang="en-US" sz="1425" u="none" cap="none" strike="noStrike">
                <a:solidFill>
                  <a:srgbClr val="CBD5E1"/>
                </a:solidFill>
                <a:latin typeface="Manrope"/>
                <a:ea typeface="Manrope"/>
                <a:cs typeface="Manrope"/>
                <a:sym typeface="Manrope"/>
              </a:rPr>
              <a:t> 0.8104</a:t>
            </a:r>
            <a:endParaRPr/>
          </a:p>
        </p:txBody>
      </p:sp>
      <p:sp>
        <p:nvSpPr>
          <p:cNvPr id="533" name="Google Shape;533;p42"/>
          <p:cNvSpPr txBox="1"/>
          <p:nvPr/>
        </p:nvSpPr>
        <p:spPr>
          <a:xfrm>
            <a:off x="6562725" y="3648075"/>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Macro Precision:</a:t>
            </a:r>
            <a:r>
              <a:rPr b="0" i="0" lang="en-US" sz="1425" u="none" cap="none" strike="noStrike">
                <a:solidFill>
                  <a:srgbClr val="CBD5E1"/>
                </a:solidFill>
                <a:latin typeface="Manrope"/>
                <a:ea typeface="Manrope"/>
                <a:cs typeface="Manrope"/>
                <a:sym typeface="Manrope"/>
              </a:rPr>
              <a:t> 0.8098</a:t>
            </a:r>
            <a:endParaRPr/>
          </a:p>
        </p:txBody>
      </p:sp>
      <p:sp>
        <p:nvSpPr>
          <p:cNvPr id="534" name="Google Shape;534;p42"/>
          <p:cNvSpPr txBox="1"/>
          <p:nvPr/>
        </p:nvSpPr>
        <p:spPr>
          <a:xfrm>
            <a:off x="6562725" y="4051845"/>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Macro Recall:</a:t>
            </a:r>
            <a:r>
              <a:rPr b="0" i="0" lang="en-US" sz="1425" u="none" cap="none" strike="noStrike">
                <a:solidFill>
                  <a:srgbClr val="CBD5E1"/>
                </a:solidFill>
                <a:latin typeface="Manrope"/>
                <a:ea typeface="Manrope"/>
                <a:cs typeface="Manrope"/>
                <a:sym typeface="Manrope"/>
              </a:rPr>
              <a:t> 0.8109</a:t>
            </a:r>
            <a:endParaRPr/>
          </a:p>
        </p:txBody>
      </p:sp>
      <p:sp>
        <p:nvSpPr>
          <p:cNvPr id="535" name="Google Shape;535;p42"/>
          <p:cNvSpPr txBox="1"/>
          <p:nvPr/>
        </p:nvSpPr>
        <p:spPr>
          <a:xfrm>
            <a:off x="6562725" y="4455616"/>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PR-AUC:</a:t>
            </a:r>
            <a:r>
              <a:rPr b="0" i="0" lang="en-US" sz="1425" u="none" cap="none" strike="noStrike">
                <a:solidFill>
                  <a:srgbClr val="CBD5E1"/>
                </a:solidFill>
                <a:latin typeface="Manrope"/>
                <a:ea typeface="Manrope"/>
                <a:cs typeface="Manrope"/>
                <a:sym typeface="Manrope"/>
              </a:rPr>
              <a:t> 0.8864</a:t>
            </a:r>
            <a:endParaRPr/>
          </a:p>
        </p:txBody>
      </p:sp>
      <p:sp>
        <p:nvSpPr>
          <p:cNvPr id="536" name="Google Shape;536;p42"/>
          <p:cNvSpPr/>
          <p:nvPr/>
        </p:nvSpPr>
        <p:spPr>
          <a:xfrm>
            <a:off x="581025" y="3445073"/>
            <a:ext cx="1087338"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42"/>
          <p:cNvSpPr/>
          <p:nvPr/>
        </p:nvSpPr>
        <p:spPr>
          <a:xfrm>
            <a:off x="1668363" y="3445073"/>
            <a:ext cx="1534269"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42"/>
          <p:cNvSpPr/>
          <p:nvPr/>
        </p:nvSpPr>
        <p:spPr>
          <a:xfrm>
            <a:off x="3202632" y="3445073"/>
            <a:ext cx="1294060"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42"/>
          <p:cNvSpPr/>
          <p:nvPr/>
        </p:nvSpPr>
        <p:spPr>
          <a:xfrm>
            <a:off x="4496692" y="3445073"/>
            <a:ext cx="136118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42"/>
          <p:cNvSpPr/>
          <p:nvPr/>
        </p:nvSpPr>
        <p:spPr>
          <a:xfrm>
            <a:off x="581025" y="3987998"/>
            <a:ext cx="1087338"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42"/>
          <p:cNvSpPr/>
          <p:nvPr/>
        </p:nvSpPr>
        <p:spPr>
          <a:xfrm>
            <a:off x="1668363" y="3987998"/>
            <a:ext cx="1534269"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42"/>
          <p:cNvSpPr/>
          <p:nvPr/>
        </p:nvSpPr>
        <p:spPr>
          <a:xfrm>
            <a:off x="3202632" y="3987998"/>
            <a:ext cx="1294060"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42"/>
          <p:cNvSpPr/>
          <p:nvPr/>
        </p:nvSpPr>
        <p:spPr>
          <a:xfrm>
            <a:off x="4496692" y="3987998"/>
            <a:ext cx="136118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42"/>
          <p:cNvSpPr/>
          <p:nvPr/>
        </p:nvSpPr>
        <p:spPr>
          <a:xfrm>
            <a:off x="581025" y="4530923"/>
            <a:ext cx="1087338"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42"/>
          <p:cNvSpPr/>
          <p:nvPr/>
        </p:nvSpPr>
        <p:spPr>
          <a:xfrm>
            <a:off x="1668363" y="4530923"/>
            <a:ext cx="1534269"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6" name="Google Shape;546;p42"/>
          <p:cNvSpPr/>
          <p:nvPr/>
        </p:nvSpPr>
        <p:spPr>
          <a:xfrm>
            <a:off x="3202632" y="4530923"/>
            <a:ext cx="1294060"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42"/>
          <p:cNvSpPr/>
          <p:nvPr/>
        </p:nvSpPr>
        <p:spPr>
          <a:xfrm>
            <a:off x="4496692" y="4530923"/>
            <a:ext cx="136118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42"/>
          <p:cNvSpPr txBox="1"/>
          <p:nvPr/>
        </p:nvSpPr>
        <p:spPr>
          <a:xfrm>
            <a:off x="6334125" y="3225254"/>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49" name="Google Shape;549;p42"/>
          <p:cNvSpPr txBox="1"/>
          <p:nvPr/>
        </p:nvSpPr>
        <p:spPr>
          <a:xfrm>
            <a:off x="6334125" y="362902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50" name="Google Shape;550;p42"/>
          <p:cNvSpPr txBox="1"/>
          <p:nvPr/>
        </p:nvSpPr>
        <p:spPr>
          <a:xfrm>
            <a:off x="6334125" y="403279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51" name="Google Shape;551;p42"/>
          <p:cNvSpPr txBox="1"/>
          <p:nvPr/>
        </p:nvSpPr>
        <p:spPr>
          <a:xfrm>
            <a:off x="6334125" y="4436566"/>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descr="image.png" id="556" name="Google Shape;556;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57" name="Google Shape;557;p43"/>
          <p:cNvPicPr preferRelativeResize="0"/>
          <p:nvPr/>
        </p:nvPicPr>
        <p:blipFill rotWithShape="1">
          <a:blip r:embed="rId4">
            <a:alphaModFix/>
          </a:blip>
          <a:srcRect b="0" l="0" r="0" t="0"/>
          <a:stretch/>
        </p:blipFill>
        <p:spPr>
          <a:xfrm>
            <a:off x="581025" y="1934467"/>
            <a:ext cx="5276850" cy="3810000"/>
          </a:xfrm>
          <a:prstGeom prst="rect">
            <a:avLst/>
          </a:prstGeom>
          <a:noFill/>
          <a:ln>
            <a:noFill/>
          </a:ln>
        </p:spPr>
      </p:pic>
      <p:sp>
        <p:nvSpPr>
          <p:cNvPr id="558" name="Google Shape;558;p43"/>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Results: Confusion Matrix Analysis</a:t>
            </a:r>
            <a:endParaRPr/>
          </a:p>
        </p:txBody>
      </p:sp>
      <p:sp>
        <p:nvSpPr>
          <p:cNvPr id="559" name="Google Shape;559;p43"/>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60" name="Google Shape;560;p43" title="download (3).png"/>
          <p:cNvPicPr preferRelativeResize="0"/>
          <p:nvPr/>
        </p:nvPicPr>
        <p:blipFill rotWithShape="1">
          <a:blip r:embed="rId5">
            <a:alphaModFix/>
          </a:blip>
          <a:srcRect b="13652" l="0" r="0" t="13652"/>
          <a:stretch/>
        </p:blipFill>
        <p:spPr>
          <a:xfrm>
            <a:off x="590550" y="1924950"/>
            <a:ext cx="5284221" cy="3810000"/>
          </a:xfrm>
          <a:prstGeom prst="rect">
            <a:avLst/>
          </a:prstGeom>
          <a:noFill/>
          <a:ln>
            <a:noFill/>
          </a:ln>
        </p:spPr>
      </p:pic>
      <p:sp>
        <p:nvSpPr>
          <p:cNvPr id="561" name="Google Shape;561;p43"/>
          <p:cNvSpPr txBox="1"/>
          <p:nvPr/>
        </p:nvSpPr>
        <p:spPr>
          <a:xfrm>
            <a:off x="6334125" y="1945332"/>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Breakdown</a:t>
            </a:r>
            <a:endParaRPr/>
          </a:p>
        </p:txBody>
      </p:sp>
      <p:sp>
        <p:nvSpPr>
          <p:cNvPr id="562" name="Google Shape;562;p43"/>
          <p:cNvSpPr txBox="1"/>
          <p:nvPr/>
        </p:nvSpPr>
        <p:spPr>
          <a:xfrm>
            <a:off x="6334125" y="5040362"/>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1" lang="en-US" sz="1425" u="none" cap="none" strike="noStrike">
                <a:solidFill>
                  <a:srgbClr val="CBD5E1"/>
                </a:solidFill>
                <a:latin typeface="Manrope"/>
                <a:ea typeface="Manrope"/>
                <a:cs typeface="Manrope"/>
                <a:sym typeface="Manrope"/>
              </a:rPr>
              <a:t>The model maintains a balanced performance between detecting polarized content and avoiding false alarms.</a:t>
            </a:r>
            <a:endParaRPr/>
          </a:p>
        </p:txBody>
      </p:sp>
      <p:sp>
        <p:nvSpPr>
          <p:cNvPr id="563" name="Google Shape;563;p43"/>
          <p:cNvSpPr txBox="1"/>
          <p:nvPr/>
        </p:nvSpPr>
        <p:spPr>
          <a:xfrm>
            <a:off x="6562725" y="2370087"/>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True Negatives (TN):</a:t>
            </a:r>
            <a:r>
              <a:rPr b="0" i="0" lang="en-US" sz="1425" u="none" cap="none" strike="noStrike">
                <a:solidFill>
                  <a:srgbClr val="CBD5E1"/>
                </a:solidFill>
                <a:latin typeface="Manrope"/>
                <a:ea typeface="Manrope"/>
                <a:cs typeface="Manrope"/>
                <a:sym typeface="Manrope"/>
              </a:rPr>
              <a:t> 1407</a:t>
            </a:r>
            <a:endParaRPr/>
          </a:p>
        </p:txBody>
      </p:sp>
      <p:sp>
        <p:nvSpPr>
          <p:cNvPr id="564" name="Google Shape;564;p43"/>
          <p:cNvSpPr txBox="1"/>
          <p:nvPr/>
        </p:nvSpPr>
        <p:spPr>
          <a:xfrm>
            <a:off x="6562725" y="2773858"/>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False Positives (FP):</a:t>
            </a:r>
            <a:r>
              <a:rPr b="0" i="0" lang="en-US" sz="1425" u="none" cap="none" strike="noStrike">
                <a:solidFill>
                  <a:srgbClr val="CBD5E1"/>
                </a:solidFill>
                <a:latin typeface="Manrope"/>
                <a:ea typeface="Manrope"/>
                <a:cs typeface="Manrope"/>
                <a:sym typeface="Manrope"/>
              </a:rPr>
              <a:t> 309</a:t>
            </a:r>
            <a:endParaRPr/>
          </a:p>
        </p:txBody>
      </p:sp>
      <p:sp>
        <p:nvSpPr>
          <p:cNvPr id="565" name="Google Shape;565;p43"/>
          <p:cNvSpPr txBox="1"/>
          <p:nvPr/>
        </p:nvSpPr>
        <p:spPr>
          <a:xfrm>
            <a:off x="6562725" y="3177629"/>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False Negatives (FN):</a:t>
            </a:r>
            <a:r>
              <a:rPr b="0" i="0" lang="en-US" sz="1425" u="none" cap="none" strike="noStrike">
                <a:solidFill>
                  <a:srgbClr val="CBD5E1"/>
                </a:solidFill>
                <a:latin typeface="Manrope"/>
                <a:ea typeface="Manrope"/>
                <a:cs typeface="Manrope"/>
                <a:sym typeface="Manrope"/>
              </a:rPr>
              <a:t> 386</a:t>
            </a:r>
            <a:endParaRPr/>
          </a:p>
        </p:txBody>
      </p:sp>
      <p:sp>
        <p:nvSpPr>
          <p:cNvPr id="566" name="Google Shape;566;p43"/>
          <p:cNvSpPr txBox="1"/>
          <p:nvPr/>
        </p:nvSpPr>
        <p:spPr>
          <a:xfrm>
            <a:off x="6562725" y="3581400"/>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True Positives (TP):</a:t>
            </a:r>
            <a:r>
              <a:rPr b="0" i="0" lang="en-US" sz="1425" u="none" cap="none" strike="noStrike">
                <a:solidFill>
                  <a:srgbClr val="CBD5E1"/>
                </a:solidFill>
                <a:latin typeface="Manrope"/>
                <a:ea typeface="Manrope"/>
                <a:cs typeface="Manrope"/>
                <a:sym typeface="Manrope"/>
              </a:rPr>
              <a:t> 1563</a:t>
            </a:r>
            <a:endParaRPr/>
          </a:p>
        </p:txBody>
      </p:sp>
      <p:sp>
        <p:nvSpPr>
          <p:cNvPr id="567" name="Google Shape;567;p43"/>
          <p:cNvSpPr txBox="1"/>
          <p:nvPr/>
        </p:nvSpPr>
        <p:spPr>
          <a:xfrm>
            <a:off x="6334125" y="4156620"/>
            <a:ext cx="52768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Positive Precision:</a:t>
            </a:r>
            <a:r>
              <a:rPr b="0" i="0" lang="en-US" sz="1425" u="none" cap="none" strike="noStrike">
                <a:solidFill>
                  <a:srgbClr val="CBD5E1"/>
                </a:solidFill>
                <a:latin typeface="Manrope"/>
                <a:ea typeface="Manrope"/>
                <a:cs typeface="Manrope"/>
                <a:sym typeface="Manrope"/>
              </a:rPr>
              <a:t> 0.8349</a:t>
            </a:r>
            <a:endParaRPr/>
          </a:p>
        </p:txBody>
      </p:sp>
      <p:sp>
        <p:nvSpPr>
          <p:cNvPr id="568" name="Google Shape;568;p43"/>
          <p:cNvSpPr txBox="1"/>
          <p:nvPr/>
        </p:nvSpPr>
        <p:spPr>
          <a:xfrm>
            <a:off x="6334125" y="4560391"/>
            <a:ext cx="52768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Positive Recall:</a:t>
            </a:r>
            <a:r>
              <a:rPr b="0" i="0" lang="en-US" sz="1425" u="none" cap="none" strike="noStrike">
                <a:solidFill>
                  <a:srgbClr val="CBD5E1"/>
                </a:solidFill>
                <a:latin typeface="Manrope"/>
                <a:ea typeface="Manrope"/>
                <a:cs typeface="Manrope"/>
                <a:sym typeface="Manrope"/>
              </a:rPr>
              <a:t> 0.8019</a:t>
            </a:r>
            <a:endParaRPr/>
          </a:p>
        </p:txBody>
      </p:sp>
      <p:sp>
        <p:nvSpPr>
          <p:cNvPr id="569" name="Google Shape;569;p43"/>
          <p:cNvSpPr txBox="1"/>
          <p:nvPr/>
        </p:nvSpPr>
        <p:spPr>
          <a:xfrm>
            <a:off x="6334125" y="2351037"/>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70" name="Google Shape;570;p43"/>
          <p:cNvSpPr txBox="1"/>
          <p:nvPr/>
        </p:nvSpPr>
        <p:spPr>
          <a:xfrm>
            <a:off x="6334125" y="2754808"/>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71" name="Google Shape;571;p43"/>
          <p:cNvSpPr txBox="1"/>
          <p:nvPr/>
        </p:nvSpPr>
        <p:spPr>
          <a:xfrm>
            <a:off x="6334125" y="3158579"/>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572" name="Google Shape;572;p43"/>
          <p:cNvSpPr txBox="1"/>
          <p:nvPr/>
        </p:nvSpPr>
        <p:spPr>
          <a:xfrm>
            <a:off x="6334125" y="3562350"/>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descr="image.png" id="577" name="Google Shape;577;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78" name="Google Shape;578;p44"/>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Results: Precision-Recall Analysis</a:t>
            </a:r>
            <a:endParaRPr/>
          </a:p>
        </p:txBody>
      </p:sp>
      <p:sp>
        <p:nvSpPr>
          <p:cNvPr id="579" name="Google Shape;579;p44"/>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44"/>
          <p:cNvSpPr txBox="1"/>
          <p:nvPr/>
        </p:nvSpPr>
        <p:spPr>
          <a:xfrm>
            <a:off x="581025" y="2644378"/>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PR-AUC Score: 0.8864</a:t>
            </a:r>
            <a:endParaRPr/>
          </a:p>
        </p:txBody>
      </p:sp>
      <p:sp>
        <p:nvSpPr>
          <p:cNvPr id="581" name="Google Shape;581;p44"/>
          <p:cNvSpPr txBox="1"/>
          <p:nvPr/>
        </p:nvSpPr>
        <p:spPr>
          <a:xfrm>
            <a:off x="581025" y="3069133"/>
            <a:ext cx="52768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 Precision-Recall curve illustrates the trade-off between precision and recall for different threshold.</a:t>
            </a:r>
            <a:endParaRPr/>
          </a:p>
        </p:txBody>
      </p:sp>
      <p:sp>
        <p:nvSpPr>
          <p:cNvPr id="582" name="Google Shape;582;p44"/>
          <p:cNvSpPr txBox="1"/>
          <p:nvPr/>
        </p:nvSpPr>
        <p:spPr>
          <a:xfrm>
            <a:off x="581025" y="3762375"/>
            <a:ext cx="5276850"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A high Area Under the Curve (0.88+) indicates that the model can maintain high precision even as we increase recall, which is crucial for moderation tasks where we want to catch most polarized content without flagging too much benign text.</a:t>
            </a:r>
            <a:endParaRPr/>
          </a:p>
        </p:txBody>
      </p:sp>
      <p:pic>
        <p:nvPicPr>
          <p:cNvPr id="583" name="Google Shape;583;p44" title="download (2).png"/>
          <p:cNvPicPr preferRelativeResize="0"/>
          <p:nvPr/>
        </p:nvPicPr>
        <p:blipFill>
          <a:blip r:embed="rId4">
            <a:alphaModFix/>
          </a:blip>
          <a:stretch>
            <a:fillRect/>
          </a:stretch>
        </p:blipFill>
        <p:spPr>
          <a:xfrm>
            <a:off x="6498775" y="1410025"/>
            <a:ext cx="5276849" cy="43824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descr="image.png" id="588" name="Google Shape;588;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89" name="Google Shape;589;p45"/>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Results: Official Codabench Evaluation</a:t>
            </a:r>
            <a:endParaRPr/>
          </a:p>
        </p:txBody>
      </p:sp>
      <p:sp>
        <p:nvSpPr>
          <p:cNvPr id="590" name="Google Shape;590;p45"/>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1" name="Google Shape;591;p45"/>
          <p:cNvSpPr txBox="1"/>
          <p:nvPr/>
        </p:nvSpPr>
        <p:spPr>
          <a:xfrm>
            <a:off x="7872675" y="1292535"/>
            <a:ext cx="2060400" cy="92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6000" u="none" cap="none" strike="noStrike">
                <a:solidFill>
                  <a:srgbClr val="6366F1"/>
                </a:solidFill>
                <a:latin typeface="Manrope SemiBold"/>
                <a:ea typeface="Manrope SemiBold"/>
                <a:cs typeface="Manrope SemiBold"/>
                <a:sym typeface="Manrope SemiBold"/>
              </a:rPr>
              <a:t>0.816</a:t>
            </a:r>
            <a:endParaRPr/>
          </a:p>
        </p:txBody>
      </p:sp>
      <p:sp>
        <p:nvSpPr>
          <p:cNvPr id="592" name="Google Shape;592;p45"/>
          <p:cNvSpPr txBox="1"/>
          <p:nvPr/>
        </p:nvSpPr>
        <p:spPr>
          <a:xfrm>
            <a:off x="9107050" y="2148672"/>
            <a:ext cx="20766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AVERAGE ACCURACY</a:t>
            </a:r>
            <a:endParaRPr/>
          </a:p>
        </p:txBody>
      </p:sp>
      <p:sp>
        <p:nvSpPr>
          <p:cNvPr id="593" name="Google Shape;593;p45"/>
          <p:cNvSpPr txBox="1"/>
          <p:nvPr/>
        </p:nvSpPr>
        <p:spPr>
          <a:xfrm>
            <a:off x="2187025" y="1292517"/>
            <a:ext cx="2100300" cy="92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6000" u="none" cap="none" strike="noStrike">
                <a:solidFill>
                  <a:srgbClr val="818CF8"/>
                </a:solidFill>
                <a:latin typeface="Manrope SemiBold"/>
                <a:ea typeface="Manrope SemiBold"/>
                <a:cs typeface="Manrope SemiBold"/>
                <a:sym typeface="Manrope SemiBold"/>
              </a:rPr>
              <a:t>0.783</a:t>
            </a:r>
            <a:endParaRPr/>
          </a:p>
        </p:txBody>
      </p:sp>
      <p:sp>
        <p:nvSpPr>
          <p:cNvPr id="594" name="Google Shape;594;p45"/>
          <p:cNvSpPr txBox="1"/>
          <p:nvPr/>
        </p:nvSpPr>
        <p:spPr>
          <a:xfrm>
            <a:off x="3416875" y="2148667"/>
            <a:ext cx="19623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AVERAGE MACRO F1</a:t>
            </a:r>
            <a:endParaRPr/>
          </a:p>
        </p:txBody>
      </p:sp>
      <p:pic>
        <p:nvPicPr>
          <p:cNvPr id="595" name="Google Shape;595;p45"/>
          <p:cNvPicPr preferRelativeResize="0"/>
          <p:nvPr/>
        </p:nvPicPr>
        <p:blipFill>
          <a:blip r:embed="rId4">
            <a:alphaModFix/>
          </a:blip>
          <a:stretch>
            <a:fillRect/>
          </a:stretch>
        </p:blipFill>
        <p:spPr>
          <a:xfrm>
            <a:off x="1734900" y="3214200"/>
            <a:ext cx="8722198" cy="3010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descr="image.png" id="600" name="Google Shape;600;p4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01" name="Google Shape;601;p46"/>
          <p:cNvPicPr preferRelativeResize="0"/>
          <p:nvPr/>
        </p:nvPicPr>
        <p:blipFill rotWithShape="1">
          <a:blip r:embed="rId4">
            <a:alphaModFix/>
          </a:blip>
          <a:srcRect b="0" l="0" r="0" t="0"/>
          <a:stretch/>
        </p:blipFill>
        <p:spPr>
          <a:xfrm>
            <a:off x="581025" y="2257573"/>
            <a:ext cx="5395912" cy="3163788"/>
          </a:xfrm>
          <a:prstGeom prst="rect">
            <a:avLst/>
          </a:prstGeom>
          <a:noFill/>
          <a:ln>
            <a:noFill/>
          </a:ln>
        </p:spPr>
      </p:pic>
      <p:pic>
        <p:nvPicPr>
          <p:cNvPr descr="image.png" id="602" name="Google Shape;602;p46"/>
          <p:cNvPicPr preferRelativeResize="0"/>
          <p:nvPr/>
        </p:nvPicPr>
        <p:blipFill rotWithShape="1">
          <a:blip r:embed="rId5">
            <a:alphaModFix/>
          </a:blip>
          <a:srcRect b="0" l="0" r="0" t="0"/>
          <a:stretch/>
        </p:blipFill>
        <p:spPr>
          <a:xfrm>
            <a:off x="6215062" y="2257573"/>
            <a:ext cx="5395912" cy="3163788"/>
          </a:xfrm>
          <a:prstGeom prst="rect">
            <a:avLst/>
          </a:prstGeom>
          <a:noFill/>
          <a:ln>
            <a:noFill/>
          </a:ln>
        </p:spPr>
      </p:pic>
      <p:sp>
        <p:nvSpPr>
          <p:cNvPr id="603" name="Google Shape;603;p46"/>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Discussion: Dataset Constraints</a:t>
            </a:r>
            <a:endParaRPr/>
          </a:p>
        </p:txBody>
      </p:sp>
      <p:sp>
        <p:nvSpPr>
          <p:cNvPr id="604" name="Google Shape;604;p46"/>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05" name="Google Shape;605;p46"/>
          <p:cNvPicPr preferRelativeResize="0"/>
          <p:nvPr/>
        </p:nvPicPr>
        <p:blipFill rotWithShape="1">
          <a:blip r:embed="rId6">
            <a:alphaModFix/>
          </a:blip>
          <a:srcRect b="0" l="0" r="0" t="0"/>
          <a:stretch/>
        </p:blipFill>
        <p:spPr>
          <a:xfrm>
            <a:off x="2945606" y="2505223"/>
            <a:ext cx="666750" cy="666750"/>
          </a:xfrm>
          <a:prstGeom prst="rect">
            <a:avLst/>
          </a:prstGeom>
          <a:noFill/>
          <a:ln>
            <a:noFill/>
          </a:ln>
        </p:spPr>
      </p:pic>
      <p:sp>
        <p:nvSpPr>
          <p:cNvPr id="606" name="Google Shape;606;p46"/>
          <p:cNvSpPr txBox="1"/>
          <p:nvPr/>
        </p:nvSpPr>
        <p:spPr>
          <a:xfrm>
            <a:off x="706159" y="3362473"/>
            <a:ext cx="5145643"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Missing Translations</a:t>
            </a:r>
            <a:endParaRPr/>
          </a:p>
        </p:txBody>
      </p:sp>
      <p:sp>
        <p:nvSpPr>
          <p:cNvPr id="607" name="Google Shape;607;p46"/>
          <p:cNvSpPr txBox="1"/>
          <p:nvPr/>
        </p:nvSpPr>
        <p:spPr>
          <a:xfrm>
            <a:off x="828675" y="3787229"/>
            <a:ext cx="4900612"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Rate limits and marker constraints left ~5,700 rows untranslated.</a:t>
            </a:r>
            <a:endParaRPr/>
          </a:p>
        </p:txBody>
      </p:sp>
      <p:sp>
        <p:nvSpPr>
          <p:cNvPr id="608" name="Google Shape;608;p46"/>
          <p:cNvSpPr txBox="1"/>
          <p:nvPr/>
        </p:nvSpPr>
        <p:spPr>
          <a:xfrm>
            <a:off x="828675" y="4480470"/>
            <a:ext cx="4900612"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Impact:</a:t>
            </a:r>
            <a:r>
              <a:rPr b="0" i="0" lang="en-US" sz="1425" u="none" cap="none" strike="noStrike">
                <a:solidFill>
                  <a:srgbClr val="CBD5E1"/>
                </a:solidFill>
                <a:latin typeface="Manrope"/>
                <a:ea typeface="Manrope"/>
                <a:cs typeface="Manrope"/>
                <a:sym typeface="Manrope"/>
              </a:rPr>
              <a:t> Reduced distillation coverage for these examples.</a:t>
            </a:r>
            <a:endParaRPr/>
          </a:p>
        </p:txBody>
      </p:sp>
      <p:pic>
        <p:nvPicPr>
          <p:cNvPr descr="image.png" id="609" name="Google Shape;609;p46"/>
          <p:cNvPicPr preferRelativeResize="0"/>
          <p:nvPr/>
        </p:nvPicPr>
        <p:blipFill rotWithShape="1">
          <a:blip r:embed="rId7">
            <a:alphaModFix/>
          </a:blip>
          <a:srcRect b="0" l="0" r="0" t="0"/>
          <a:stretch/>
        </p:blipFill>
        <p:spPr>
          <a:xfrm>
            <a:off x="8579643" y="2505223"/>
            <a:ext cx="666750" cy="666750"/>
          </a:xfrm>
          <a:prstGeom prst="rect">
            <a:avLst/>
          </a:prstGeom>
          <a:noFill/>
          <a:ln>
            <a:noFill/>
          </a:ln>
        </p:spPr>
      </p:pic>
      <p:sp>
        <p:nvSpPr>
          <p:cNvPr id="610" name="Google Shape;610;p46"/>
          <p:cNvSpPr txBox="1"/>
          <p:nvPr/>
        </p:nvSpPr>
        <p:spPr>
          <a:xfrm>
            <a:off x="6340197" y="3362473"/>
            <a:ext cx="5145643"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Unlabeled Dev Set</a:t>
            </a:r>
            <a:endParaRPr/>
          </a:p>
        </p:txBody>
      </p:sp>
      <p:sp>
        <p:nvSpPr>
          <p:cNvPr id="611" name="Google Shape;611;p46"/>
          <p:cNvSpPr txBox="1"/>
          <p:nvPr/>
        </p:nvSpPr>
        <p:spPr>
          <a:xfrm>
            <a:off x="6462712" y="3787229"/>
            <a:ext cx="4900612"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The official dev set had no labels.</a:t>
            </a:r>
            <a:endParaRPr/>
          </a:p>
        </p:txBody>
      </p:sp>
      <p:sp>
        <p:nvSpPr>
          <p:cNvPr id="612" name="Google Shape;612;p46"/>
          <p:cNvSpPr txBox="1"/>
          <p:nvPr/>
        </p:nvSpPr>
        <p:spPr>
          <a:xfrm>
            <a:off x="6462712" y="4191000"/>
            <a:ext cx="4900612"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Impact:</a:t>
            </a:r>
            <a:r>
              <a:rPr b="0" i="0" lang="en-US" sz="1425" u="none" cap="none" strike="noStrike">
                <a:solidFill>
                  <a:srgbClr val="CBD5E1"/>
                </a:solidFill>
                <a:latin typeface="Manrope"/>
                <a:ea typeface="Manrope"/>
                <a:cs typeface="Manrope"/>
                <a:sym typeface="Manrope"/>
              </a:rPr>
              <a:t> We relied on internal validation, which is a proxy. Threshold tuning on the real target distribution was not possible.</a:t>
            </a:r>
            <a:endParaRPr/>
          </a:p>
        </p:txBody>
      </p:sp>
      <p:pic>
        <p:nvPicPr>
          <p:cNvPr descr="image.png" id="613" name="Google Shape;613;p46"/>
          <p:cNvPicPr preferRelativeResize="0"/>
          <p:nvPr/>
        </p:nvPicPr>
        <p:blipFill rotWithShape="1">
          <a:blip r:embed="rId8">
            <a:alphaModFix/>
          </a:blip>
          <a:srcRect b="0" l="0" r="0" t="0"/>
          <a:stretch/>
        </p:blipFill>
        <p:spPr>
          <a:xfrm>
            <a:off x="3088481" y="2648098"/>
            <a:ext cx="381000" cy="381000"/>
          </a:xfrm>
          <a:prstGeom prst="rect">
            <a:avLst/>
          </a:prstGeom>
          <a:noFill/>
          <a:ln>
            <a:noFill/>
          </a:ln>
        </p:spPr>
      </p:pic>
      <p:pic>
        <p:nvPicPr>
          <p:cNvPr descr="image.png" id="614" name="Google Shape;614;p46"/>
          <p:cNvPicPr preferRelativeResize="0"/>
          <p:nvPr/>
        </p:nvPicPr>
        <p:blipFill rotWithShape="1">
          <a:blip r:embed="rId9">
            <a:alphaModFix/>
          </a:blip>
          <a:srcRect b="0" l="0" r="0" t="0"/>
          <a:stretch/>
        </p:blipFill>
        <p:spPr>
          <a:xfrm>
            <a:off x="8674893" y="2648098"/>
            <a:ext cx="476250" cy="381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pic>
        <p:nvPicPr>
          <p:cNvPr descr="image.png" id="619" name="Google Shape;619;p4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20" name="Google Shape;620;p47"/>
          <p:cNvPicPr preferRelativeResize="0"/>
          <p:nvPr/>
        </p:nvPicPr>
        <p:blipFill rotWithShape="1">
          <a:blip r:embed="rId4">
            <a:alphaModFix/>
          </a:blip>
          <a:srcRect b="0" l="0" r="0" t="0"/>
          <a:stretch/>
        </p:blipFill>
        <p:spPr>
          <a:xfrm>
            <a:off x="581025" y="1306710"/>
            <a:ext cx="5276850" cy="5065514"/>
          </a:xfrm>
          <a:prstGeom prst="rect">
            <a:avLst/>
          </a:prstGeom>
          <a:noFill/>
          <a:ln>
            <a:noFill/>
          </a:ln>
        </p:spPr>
      </p:pic>
      <p:pic>
        <p:nvPicPr>
          <p:cNvPr descr="image.png" id="621" name="Google Shape;621;p47"/>
          <p:cNvPicPr preferRelativeResize="0"/>
          <p:nvPr/>
        </p:nvPicPr>
        <p:blipFill rotWithShape="1">
          <a:blip r:embed="rId5">
            <a:alphaModFix/>
          </a:blip>
          <a:srcRect b="0" l="0" r="0" t="0"/>
          <a:stretch/>
        </p:blipFill>
        <p:spPr>
          <a:xfrm>
            <a:off x="6334125" y="1306710"/>
            <a:ext cx="5276850" cy="5065514"/>
          </a:xfrm>
          <a:prstGeom prst="rect">
            <a:avLst/>
          </a:prstGeom>
          <a:noFill/>
          <a:ln>
            <a:noFill/>
          </a:ln>
        </p:spPr>
      </p:pic>
      <p:sp>
        <p:nvSpPr>
          <p:cNvPr id="622" name="Google Shape;622;p47"/>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Discussion: Architecture Analysis</a:t>
            </a:r>
            <a:endParaRPr/>
          </a:p>
        </p:txBody>
      </p:sp>
      <p:sp>
        <p:nvSpPr>
          <p:cNvPr id="623" name="Google Shape;623;p47"/>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4" name="Google Shape;624;p47"/>
          <p:cNvSpPr txBox="1"/>
          <p:nvPr/>
        </p:nvSpPr>
        <p:spPr>
          <a:xfrm>
            <a:off x="895350" y="1621035"/>
            <a:ext cx="4880700" cy="300300"/>
          </a:xfrm>
          <a:prstGeom prst="rect">
            <a:avLst/>
          </a:prstGeom>
          <a:noFill/>
          <a:ln>
            <a:noFill/>
          </a:ln>
        </p:spPr>
        <p:txBody>
          <a:bodyPr anchorCtr="0" anchor="t" bIns="0" lIns="247650" spcFirstLastPara="1" rIns="0" wrap="square" tIns="0">
            <a:spAutoFit/>
          </a:bodyPr>
          <a:lstStyle/>
          <a:p>
            <a:pPr indent="0" lvl="0" marL="0" marR="0" rtl="0" algn="l">
              <a:lnSpc>
                <a:spcPct val="110000"/>
              </a:lnSpc>
              <a:spcBef>
                <a:spcPts val="0"/>
              </a:spcBef>
              <a:spcAft>
                <a:spcPts val="0"/>
              </a:spcAft>
              <a:buNone/>
            </a:pPr>
            <a:r>
              <a:rPr lang="en-US" sz="1950">
                <a:solidFill>
                  <a:srgbClr val="22C55E"/>
                </a:solidFill>
                <a:latin typeface="Manrope SemiBold"/>
                <a:ea typeface="Manrope SemiBold"/>
                <a:cs typeface="Manrope SemiBold"/>
                <a:sym typeface="Manrope SemiBold"/>
              </a:rPr>
              <a:t> </a:t>
            </a:r>
            <a:r>
              <a:rPr b="0" i="0" lang="en-US" sz="1950" u="none" cap="none" strike="noStrike">
                <a:solidFill>
                  <a:srgbClr val="22C55E"/>
                </a:solidFill>
                <a:latin typeface="Manrope SemiBold"/>
                <a:ea typeface="Manrope SemiBold"/>
                <a:cs typeface="Manrope SemiBold"/>
                <a:sym typeface="Manrope SemiBold"/>
              </a:rPr>
              <a:t>Advantages</a:t>
            </a:r>
            <a:endParaRPr/>
          </a:p>
        </p:txBody>
      </p:sp>
      <p:sp>
        <p:nvSpPr>
          <p:cNvPr id="625" name="Google Shape;625;p47"/>
          <p:cNvSpPr txBox="1"/>
          <p:nvPr/>
        </p:nvSpPr>
        <p:spPr>
          <a:xfrm>
            <a:off x="6648450" y="1621035"/>
            <a:ext cx="4880700" cy="300300"/>
          </a:xfrm>
          <a:prstGeom prst="rect">
            <a:avLst/>
          </a:prstGeom>
          <a:noFill/>
          <a:ln>
            <a:noFill/>
          </a:ln>
        </p:spPr>
        <p:txBody>
          <a:bodyPr anchorCtr="0" anchor="t" bIns="0" lIns="247650" spcFirstLastPara="1" rIns="0" wrap="square" tIns="0">
            <a:spAutoFit/>
          </a:bodyPr>
          <a:lstStyle/>
          <a:p>
            <a:pPr indent="0" lvl="0" marL="0" marR="0" rtl="0" algn="l">
              <a:lnSpc>
                <a:spcPct val="110000"/>
              </a:lnSpc>
              <a:spcBef>
                <a:spcPts val="0"/>
              </a:spcBef>
              <a:spcAft>
                <a:spcPts val="0"/>
              </a:spcAft>
              <a:buNone/>
            </a:pPr>
            <a:r>
              <a:rPr lang="en-US" sz="1950">
                <a:solidFill>
                  <a:srgbClr val="F59E0B"/>
                </a:solidFill>
                <a:latin typeface="Manrope SemiBold"/>
                <a:ea typeface="Manrope SemiBold"/>
                <a:cs typeface="Manrope SemiBold"/>
                <a:sym typeface="Manrope SemiBold"/>
              </a:rPr>
              <a:t> </a:t>
            </a:r>
            <a:r>
              <a:rPr b="0" i="0" lang="en-US" sz="1950" u="none" cap="none" strike="noStrike">
                <a:solidFill>
                  <a:srgbClr val="F59E0B"/>
                </a:solidFill>
                <a:latin typeface="Manrope SemiBold"/>
                <a:ea typeface="Manrope SemiBold"/>
                <a:cs typeface="Manrope SemiBold"/>
                <a:sym typeface="Manrope SemiBold"/>
              </a:rPr>
              <a:t>Disadvantages</a:t>
            </a:r>
            <a:endParaRPr/>
          </a:p>
        </p:txBody>
      </p:sp>
      <p:pic>
        <p:nvPicPr>
          <p:cNvPr descr="image.png" id="626" name="Google Shape;626;p47"/>
          <p:cNvPicPr preferRelativeResize="0"/>
          <p:nvPr/>
        </p:nvPicPr>
        <p:blipFill rotWithShape="1">
          <a:blip r:embed="rId6">
            <a:alphaModFix/>
          </a:blip>
          <a:srcRect b="0" l="0" r="0" t="0"/>
          <a:stretch/>
        </p:blipFill>
        <p:spPr>
          <a:xfrm>
            <a:off x="895350" y="1640085"/>
            <a:ext cx="247650" cy="247650"/>
          </a:xfrm>
          <a:prstGeom prst="rect">
            <a:avLst/>
          </a:prstGeom>
          <a:noFill/>
          <a:ln>
            <a:noFill/>
          </a:ln>
        </p:spPr>
      </p:pic>
      <p:sp>
        <p:nvSpPr>
          <p:cNvPr id="627" name="Google Shape;627;p47"/>
          <p:cNvSpPr txBox="1"/>
          <p:nvPr/>
        </p:nvSpPr>
        <p:spPr>
          <a:xfrm>
            <a:off x="1123950" y="2045791"/>
            <a:ext cx="44196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Cross-Lingual Transfer:</a:t>
            </a:r>
            <a:r>
              <a:rPr b="0" i="0" lang="en-US" sz="1425" u="none" cap="none" strike="noStrike">
                <a:solidFill>
                  <a:srgbClr val="CBD5E1"/>
                </a:solidFill>
                <a:latin typeface="Manrope"/>
                <a:ea typeface="Manrope"/>
                <a:cs typeface="Manrope"/>
                <a:sym typeface="Manrope"/>
              </a:rPr>
              <a:t> Works even on languages not seen by the teacher via translation bridge.</a:t>
            </a:r>
            <a:endParaRPr/>
          </a:p>
        </p:txBody>
      </p:sp>
      <p:sp>
        <p:nvSpPr>
          <p:cNvPr id="628" name="Google Shape;628;p47"/>
          <p:cNvSpPr txBox="1"/>
          <p:nvPr/>
        </p:nvSpPr>
        <p:spPr>
          <a:xfrm>
            <a:off x="1123950" y="2739032"/>
            <a:ext cx="44196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Inference Efficiency:</a:t>
            </a:r>
            <a:r>
              <a:rPr b="0" i="0" lang="en-US" sz="1425" u="none" cap="none" strike="noStrike">
                <a:solidFill>
                  <a:srgbClr val="CBD5E1"/>
                </a:solidFill>
                <a:latin typeface="Manrope"/>
                <a:ea typeface="Manrope"/>
                <a:cs typeface="Manrope"/>
                <a:sym typeface="Manrope"/>
              </a:rPr>
              <a:t> Uses only the smaller Student at test time.</a:t>
            </a:r>
            <a:endParaRPr/>
          </a:p>
        </p:txBody>
      </p:sp>
      <p:sp>
        <p:nvSpPr>
          <p:cNvPr id="629" name="Google Shape;629;p47"/>
          <p:cNvSpPr txBox="1"/>
          <p:nvPr/>
        </p:nvSpPr>
        <p:spPr>
          <a:xfrm>
            <a:off x="1123950" y="3432274"/>
            <a:ext cx="44196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Robustness:</a:t>
            </a:r>
            <a:r>
              <a:rPr b="0" i="0" lang="en-US" sz="1425" u="none" cap="none" strike="noStrike">
                <a:solidFill>
                  <a:srgbClr val="CBD5E1"/>
                </a:solidFill>
                <a:latin typeface="Manrope"/>
                <a:ea typeface="Manrope"/>
                <a:cs typeface="Manrope"/>
                <a:sym typeface="Manrope"/>
              </a:rPr>
              <a:t> Partial distillation handles preprocessing failures gracefully.</a:t>
            </a:r>
            <a:endParaRPr/>
          </a:p>
        </p:txBody>
      </p:sp>
      <p:pic>
        <p:nvPicPr>
          <p:cNvPr descr="image.png" id="630" name="Google Shape;630;p47"/>
          <p:cNvPicPr preferRelativeResize="0"/>
          <p:nvPr/>
        </p:nvPicPr>
        <p:blipFill rotWithShape="1">
          <a:blip r:embed="rId7">
            <a:alphaModFix/>
          </a:blip>
          <a:srcRect b="0" l="0" r="0" t="0"/>
          <a:stretch/>
        </p:blipFill>
        <p:spPr>
          <a:xfrm>
            <a:off x="6648450" y="1640085"/>
            <a:ext cx="247650" cy="247650"/>
          </a:xfrm>
          <a:prstGeom prst="rect">
            <a:avLst/>
          </a:prstGeom>
          <a:noFill/>
          <a:ln>
            <a:noFill/>
          </a:ln>
        </p:spPr>
      </p:pic>
      <p:sp>
        <p:nvSpPr>
          <p:cNvPr id="631" name="Google Shape;631;p47"/>
          <p:cNvSpPr txBox="1"/>
          <p:nvPr/>
        </p:nvSpPr>
        <p:spPr>
          <a:xfrm>
            <a:off x="6877050" y="2045791"/>
            <a:ext cx="44196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Translation Noise:</a:t>
            </a:r>
            <a:r>
              <a:rPr b="0" i="0" lang="en-US" sz="1425" u="none" cap="none" strike="noStrike">
                <a:solidFill>
                  <a:srgbClr val="CBD5E1"/>
                </a:solidFill>
                <a:latin typeface="Manrope"/>
                <a:ea typeface="Manrope"/>
                <a:cs typeface="Manrope"/>
                <a:sym typeface="Manrope"/>
              </a:rPr>
              <a:t> External tools introduce semantic drift and lose cultural nuance.</a:t>
            </a:r>
            <a:endParaRPr/>
          </a:p>
        </p:txBody>
      </p:sp>
      <p:sp>
        <p:nvSpPr>
          <p:cNvPr id="632" name="Google Shape;632;p47"/>
          <p:cNvSpPr txBox="1"/>
          <p:nvPr/>
        </p:nvSpPr>
        <p:spPr>
          <a:xfrm>
            <a:off x="6877050" y="2739032"/>
            <a:ext cx="44196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Heterogeneous Supervision:</a:t>
            </a:r>
            <a:r>
              <a:rPr b="0" i="0" lang="en-US" sz="1425" u="none" cap="none" strike="noStrike">
                <a:solidFill>
                  <a:srgbClr val="CBD5E1"/>
                </a:solidFill>
                <a:latin typeface="Manrope"/>
                <a:ea typeface="Manrope"/>
                <a:cs typeface="Manrope"/>
                <a:sym typeface="Manrope"/>
              </a:rPr>
              <a:t> Mixing hard-only and soft-target losses makes optimization complex.</a:t>
            </a:r>
            <a:endParaRPr/>
          </a:p>
        </p:txBody>
      </p:sp>
      <p:sp>
        <p:nvSpPr>
          <p:cNvPr id="633" name="Google Shape;633;p47"/>
          <p:cNvSpPr txBox="1"/>
          <p:nvPr/>
        </p:nvSpPr>
        <p:spPr>
          <a:xfrm>
            <a:off x="895350" y="202674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34" name="Google Shape;634;p47"/>
          <p:cNvSpPr txBox="1"/>
          <p:nvPr/>
        </p:nvSpPr>
        <p:spPr>
          <a:xfrm>
            <a:off x="895350" y="2719982"/>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35" name="Google Shape;635;p47"/>
          <p:cNvSpPr txBox="1"/>
          <p:nvPr/>
        </p:nvSpPr>
        <p:spPr>
          <a:xfrm>
            <a:off x="895350" y="3413224"/>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36" name="Google Shape;636;p47"/>
          <p:cNvSpPr txBox="1"/>
          <p:nvPr/>
        </p:nvSpPr>
        <p:spPr>
          <a:xfrm>
            <a:off x="6648450" y="202674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37" name="Google Shape;637;p47"/>
          <p:cNvSpPr txBox="1"/>
          <p:nvPr/>
        </p:nvSpPr>
        <p:spPr>
          <a:xfrm>
            <a:off x="6648450" y="2719982"/>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descr="image.png" id="642" name="Google Shape;642;p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3" name="Google Shape;643;p48"/>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Milestone vs. Final System</a:t>
            </a:r>
            <a:endParaRPr/>
          </a:p>
        </p:txBody>
      </p:sp>
      <p:sp>
        <p:nvSpPr>
          <p:cNvPr id="644" name="Google Shape;644;p48"/>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645" name="Google Shape;645;p48"/>
          <p:cNvGraphicFramePr/>
          <p:nvPr/>
        </p:nvGraphicFramePr>
        <p:xfrm>
          <a:off x="581025" y="2786955"/>
          <a:ext cx="3000000" cy="3000000"/>
        </p:xfrm>
        <a:graphic>
          <a:graphicData uri="http://schemas.openxmlformats.org/drawingml/2006/table">
            <a:tbl>
              <a:tblPr bandRow="1" firstRow="1">
                <a:noFill/>
                <a:tableStyleId>{E0E25B36-2C86-4994-86C3-6929DEDAE696}</a:tableStyleId>
              </a:tblPr>
              <a:tblGrid>
                <a:gridCol w="3534825"/>
                <a:gridCol w="3299975"/>
                <a:gridCol w="4195175"/>
              </a:tblGrid>
              <a:tr h="526250">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Milestone Plan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Final System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Reason for Change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r>
              <a:tr h="52625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Two Teachers (Language + Topic)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Single Teacher (Language 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Topic Teacher B leaked label information.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625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13 Languages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22 Languages (Official Release)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Dataset expansion by organizers.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6250">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Full Translation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Partial Translation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Rate limits &amp; safeguards.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46" name="Google Shape;646;p48"/>
          <p:cNvSpPr/>
          <p:nvPr/>
        </p:nvSpPr>
        <p:spPr>
          <a:xfrm>
            <a:off x="581025" y="3801367"/>
            <a:ext cx="3534816"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48"/>
          <p:cNvSpPr/>
          <p:nvPr/>
        </p:nvSpPr>
        <p:spPr>
          <a:xfrm>
            <a:off x="4115841" y="3801367"/>
            <a:ext cx="3299966"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8"/>
          <p:cNvSpPr/>
          <p:nvPr/>
        </p:nvSpPr>
        <p:spPr>
          <a:xfrm>
            <a:off x="7415807" y="3801367"/>
            <a:ext cx="419516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48"/>
          <p:cNvSpPr/>
          <p:nvPr/>
        </p:nvSpPr>
        <p:spPr>
          <a:xfrm>
            <a:off x="581025" y="4344292"/>
            <a:ext cx="3534816"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8"/>
          <p:cNvSpPr/>
          <p:nvPr/>
        </p:nvSpPr>
        <p:spPr>
          <a:xfrm>
            <a:off x="4115841" y="4344292"/>
            <a:ext cx="3299966"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48"/>
          <p:cNvSpPr/>
          <p:nvPr/>
        </p:nvSpPr>
        <p:spPr>
          <a:xfrm>
            <a:off x="7415807" y="4344292"/>
            <a:ext cx="419516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descr="image.png" id="656" name="Google Shape;656;p4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57" name="Google Shape;657;p49"/>
          <p:cNvPicPr preferRelativeResize="0"/>
          <p:nvPr/>
        </p:nvPicPr>
        <p:blipFill rotWithShape="1">
          <a:blip r:embed="rId4">
            <a:alphaModFix/>
          </a:blip>
          <a:srcRect b="0" l="0" r="0" t="0"/>
          <a:stretch/>
        </p:blipFill>
        <p:spPr>
          <a:xfrm>
            <a:off x="6334125" y="1713011"/>
            <a:ext cx="5276850" cy="4252912"/>
          </a:xfrm>
          <a:prstGeom prst="rect">
            <a:avLst/>
          </a:prstGeom>
          <a:noFill/>
          <a:ln>
            <a:noFill/>
          </a:ln>
        </p:spPr>
      </p:pic>
      <p:sp>
        <p:nvSpPr>
          <p:cNvPr id="658" name="Google Shape;658;p49"/>
          <p:cNvSpPr txBox="1"/>
          <p:nvPr/>
        </p:nvSpPr>
        <p:spPr>
          <a:xfrm>
            <a:off x="771525" y="485775"/>
            <a:ext cx="113814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Our Novel Contributions</a:t>
            </a:r>
            <a:endParaRPr/>
          </a:p>
        </p:txBody>
      </p:sp>
      <p:sp>
        <p:nvSpPr>
          <p:cNvPr id="659" name="Google Shape;659;p49"/>
          <p:cNvSpPr/>
          <p:nvPr/>
        </p:nvSpPr>
        <p:spPr>
          <a:xfrm>
            <a:off x="581025" y="485775"/>
            <a:ext cx="47700" cy="4398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49"/>
          <p:cNvSpPr txBox="1"/>
          <p:nvPr/>
        </p:nvSpPr>
        <p:spPr>
          <a:xfrm>
            <a:off x="581025" y="2739479"/>
            <a:ext cx="5540700" cy="300300"/>
          </a:xfrm>
          <a:prstGeom prst="rect">
            <a:avLst/>
          </a:prstGeom>
          <a:noFill/>
          <a:ln>
            <a:noFill/>
          </a:ln>
        </p:spPr>
        <p:txBody>
          <a:bodyPr anchorCtr="0" anchor="t" bIns="0" lIns="276225" spcFirstLastPara="1" rIns="0" wrap="square" tIns="0">
            <a:spAutoFit/>
          </a:bodyPr>
          <a:lstStyle/>
          <a:p>
            <a:pPr indent="0" lvl="0" marL="0" marR="0" rtl="0" algn="l">
              <a:lnSpc>
                <a:spcPct val="110000"/>
              </a:lnSpc>
              <a:spcBef>
                <a:spcPts val="0"/>
              </a:spcBef>
              <a:spcAft>
                <a:spcPts val="0"/>
              </a:spcAft>
              <a:buNone/>
            </a:pPr>
            <a:r>
              <a:rPr lang="en-US" sz="1950">
                <a:solidFill>
                  <a:srgbClr val="818CF8"/>
                </a:solidFill>
                <a:latin typeface="Manrope SemiBold"/>
                <a:ea typeface="Manrope SemiBold"/>
                <a:cs typeface="Manrope SemiBold"/>
                <a:sym typeface="Manrope SemiBold"/>
              </a:rPr>
              <a:t> </a:t>
            </a:r>
            <a:r>
              <a:rPr b="0" i="0" lang="en-US" sz="1950" u="none" cap="none" strike="noStrike">
                <a:solidFill>
                  <a:srgbClr val="818CF8"/>
                </a:solidFill>
                <a:latin typeface="Manrope SemiBold"/>
                <a:ea typeface="Manrope SemiBold"/>
                <a:cs typeface="Manrope SemiBold"/>
                <a:sym typeface="Manrope SemiBold"/>
              </a:rPr>
              <a:t>Adopted Frameworks</a:t>
            </a:r>
            <a:endParaRPr/>
          </a:p>
        </p:txBody>
      </p:sp>
      <p:sp>
        <p:nvSpPr>
          <p:cNvPr id="661" name="Google Shape;661;p49"/>
          <p:cNvSpPr txBox="1"/>
          <p:nvPr/>
        </p:nvSpPr>
        <p:spPr>
          <a:xfrm>
            <a:off x="581025" y="3164234"/>
            <a:ext cx="52770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Manrope"/>
                <a:ea typeface="Manrope"/>
                <a:cs typeface="Manrope"/>
                <a:sym typeface="Manrope"/>
              </a:rPr>
              <a:t>We built upon established foundations (Cited):</a:t>
            </a:r>
            <a:endParaRPr/>
          </a:p>
        </p:txBody>
      </p:sp>
      <p:sp>
        <p:nvSpPr>
          <p:cNvPr id="662" name="Google Shape;662;p49"/>
          <p:cNvSpPr txBox="1"/>
          <p:nvPr/>
        </p:nvSpPr>
        <p:spPr>
          <a:xfrm>
            <a:off x="6629400" y="2008286"/>
            <a:ext cx="4920600" cy="300300"/>
          </a:xfrm>
          <a:prstGeom prst="rect">
            <a:avLst/>
          </a:prstGeom>
          <a:noFill/>
          <a:ln>
            <a:noFill/>
          </a:ln>
        </p:spPr>
        <p:txBody>
          <a:bodyPr anchorCtr="0" anchor="t" bIns="0" lIns="190500" spcFirstLastPara="1" rIns="0" wrap="square" tIns="0">
            <a:spAutoFit/>
          </a:bodyPr>
          <a:lstStyle/>
          <a:p>
            <a:pPr indent="0" lvl="0" marL="0" marR="0" rtl="0" algn="l">
              <a:lnSpc>
                <a:spcPct val="110000"/>
              </a:lnSpc>
              <a:spcBef>
                <a:spcPts val="0"/>
              </a:spcBef>
              <a:spcAft>
                <a:spcPts val="0"/>
              </a:spcAft>
              <a:buNone/>
            </a:pPr>
            <a:r>
              <a:rPr lang="en-US" sz="1950">
                <a:solidFill>
                  <a:srgbClr val="818CF8"/>
                </a:solidFill>
                <a:latin typeface="Manrope SemiBold"/>
                <a:ea typeface="Manrope SemiBold"/>
                <a:cs typeface="Manrope SemiBold"/>
                <a:sym typeface="Manrope SemiBold"/>
              </a:rPr>
              <a:t> </a:t>
            </a:r>
            <a:r>
              <a:rPr b="0" i="0" lang="en-US" sz="1950" u="none" cap="none" strike="noStrike">
                <a:solidFill>
                  <a:srgbClr val="818CF8"/>
                </a:solidFill>
                <a:latin typeface="Manrope SemiBold"/>
                <a:ea typeface="Manrope SemiBold"/>
                <a:cs typeface="Manrope SemiBold"/>
                <a:sym typeface="Manrope SemiBold"/>
              </a:rPr>
              <a:t>Our Specific Contributions</a:t>
            </a:r>
            <a:endParaRPr/>
          </a:p>
        </p:txBody>
      </p:sp>
      <p:pic>
        <p:nvPicPr>
          <p:cNvPr descr="image.png" id="663" name="Google Shape;663;p49"/>
          <p:cNvPicPr preferRelativeResize="0"/>
          <p:nvPr/>
        </p:nvPicPr>
        <p:blipFill rotWithShape="1">
          <a:blip r:embed="rId5">
            <a:alphaModFix/>
          </a:blip>
          <a:srcRect b="0" l="0" r="0" t="0"/>
          <a:stretch/>
        </p:blipFill>
        <p:spPr>
          <a:xfrm>
            <a:off x="581025" y="2758529"/>
            <a:ext cx="276225" cy="247650"/>
          </a:xfrm>
          <a:prstGeom prst="rect">
            <a:avLst/>
          </a:prstGeom>
          <a:noFill/>
          <a:ln>
            <a:noFill/>
          </a:ln>
        </p:spPr>
      </p:pic>
      <p:sp>
        <p:nvSpPr>
          <p:cNvPr id="664" name="Google Shape;664;p49"/>
          <p:cNvSpPr txBox="1"/>
          <p:nvPr/>
        </p:nvSpPr>
        <p:spPr>
          <a:xfrm>
            <a:off x="809625" y="3552825"/>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Teacher-Student Distillation:</a:t>
            </a:r>
            <a:r>
              <a:rPr b="0" i="0" lang="en-US" sz="1425" u="none" cap="none" strike="noStrike">
                <a:solidFill>
                  <a:srgbClr val="CBD5E1"/>
                </a:solidFill>
                <a:latin typeface="Manrope"/>
                <a:ea typeface="Manrope"/>
                <a:cs typeface="Manrope"/>
                <a:sym typeface="Manrope"/>
              </a:rPr>
              <a:t> Adapted from Hinton et al. (2015) and Zhang et al. (2023).</a:t>
            </a:r>
            <a:endParaRPr/>
          </a:p>
        </p:txBody>
      </p:sp>
      <p:sp>
        <p:nvSpPr>
          <p:cNvPr id="665" name="Google Shape;665;p49"/>
          <p:cNvSpPr txBox="1"/>
          <p:nvPr/>
        </p:nvSpPr>
        <p:spPr>
          <a:xfrm>
            <a:off x="809625" y="4246066"/>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XLM-R Embeddings:</a:t>
            </a:r>
            <a:r>
              <a:rPr b="0" i="0" lang="en-US" sz="1425" u="none" cap="none" strike="noStrike">
                <a:solidFill>
                  <a:srgbClr val="CBD5E1"/>
                </a:solidFill>
                <a:latin typeface="Manrope"/>
                <a:ea typeface="Manrope"/>
                <a:cs typeface="Manrope"/>
                <a:sym typeface="Manrope"/>
              </a:rPr>
              <a:t> Leveraged Conneau et al. (2020) for cross-lingual representation.</a:t>
            </a:r>
            <a:endParaRPr/>
          </a:p>
        </p:txBody>
      </p:sp>
      <p:pic>
        <p:nvPicPr>
          <p:cNvPr descr="image.png" id="666" name="Google Shape;666;p49"/>
          <p:cNvPicPr preferRelativeResize="0"/>
          <p:nvPr/>
        </p:nvPicPr>
        <p:blipFill rotWithShape="1">
          <a:blip r:embed="rId6">
            <a:alphaModFix/>
          </a:blip>
          <a:srcRect b="0" l="0" r="0" t="0"/>
          <a:stretch/>
        </p:blipFill>
        <p:spPr>
          <a:xfrm>
            <a:off x="6629400" y="2027336"/>
            <a:ext cx="190500" cy="247650"/>
          </a:xfrm>
          <a:prstGeom prst="rect">
            <a:avLst/>
          </a:prstGeom>
          <a:noFill/>
          <a:ln>
            <a:noFill/>
          </a:ln>
        </p:spPr>
      </p:pic>
      <p:sp>
        <p:nvSpPr>
          <p:cNvPr id="667" name="Google Shape;667;p49"/>
          <p:cNvSpPr txBox="1"/>
          <p:nvPr/>
        </p:nvSpPr>
        <p:spPr>
          <a:xfrm>
            <a:off x="6858000" y="2433042"/>
            <a:ext cx="44577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Partial Distillation Loss:</a:t>
            </a:r>
            <a:r>
              <a:rPr b="0" i="0" lang="en-US" sz="1425" u="none" cap="none" strike="noStrike">
                <a:solidFill>
                  <a:srgbClr val="CBD5E1"/>
                </a:solidFill>
                <a:latin typeface="Manrope"/>
                <a:ea typeface="Manrope"/>
                <a:cs typeface="Manrope"/>
                <a:sym typeface="Manrope"/>
              </a:rPr>
              <a:t> A novel conditional loss function to handle missing translations without discarding data (unlike standard distillation).</a:t>
            </a:r>
            <a:endParaRPr/>
          </a:p>
        </p:txBody>
      </p:sp>
      <p:sp>
        <p:nvSpPr>
          <p:cNvPr id="668" name="Google Shape;668;p49"/>
          <p:cNvSpPr txBox="1"/>
          <p:nvPr/>
        </p:nvSpPr>
        <p:spPr>
          <a:xfrm>
            <a:off x="6858000" y="3415754"/>
            <a:ext cx="44577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Topic Leakage Audit:</a:t>
            </a:r>
            <a:r>
              <a:rPr b="0" i="0" lang="en-US" sz="1425" u="none" cap="none" strike="noStrike">
                <a:solidFill>
                  <a:srgbClr val="CBD5E1"/>
                </a:solidFill>
                <a:latin typeface="Manrope"/>
                <a:ea typeface="Manrope"/>
                <a:cs typeface="Manrope"/>
                <a:sym typeface="Manrope"/>
              </a:rPr>
              <a:t> We empirically proved that topic vectors act as leaky proxies for polarization in this dataset, refuting the assumption that they add valid context.</a:t>
            </a:r>
            <a:endParaRPr/>
          </a:p>
        </p:txBody>
      </p:sp>
      <p:sp>
        <p:nvSpPr>
          <p:cNvPr id="669" name="Google Shape;669;p49"/>
          <p:cNvSpPr txBox="1"/>
          <p:nvPr/>
        </p:nvSpPr>
        <p:spPr>
          <a:xfrm>
            <a:off x="6858000" y="4687937"/>
            <a:ext cx="44577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Group-Aware Sharding:</a:t>
            </a:r>
            <a:r>
              <a:rPr b="0" i="0" lang="en-US" sz="1425" u="none" cap="none" strike="noStrike">
                <a:solidFill>
                  <a:srgbClr val="CBD5E1"/>
                </a:solidFill>
                <a:latin typeface="Manrope"/>
                <a:ea typeface="Manrope"/>
                <a:cs typeface="Manrope"/>
                <a:sym typeface="Manrope"/>
              </a:rPr>
              <a:t> A custom validation strategy to prevent LLM-augmented paraphrases from leaking into test sets.</a:t>
            </a:r>
            <a:endParaRPr/>
          </a:p>
        </p:txBody>
      </p:sp>
      <p:sp>
        <p:nvSpPr>
          <p:cNvPr id="670" name="Google Shape;670;p49"/>
          <p:cNvSpPr txBox="1"/>
          <p:nvPr/>
        </p:nvSpPr>
        <p:spPr>
          <a:xfrm>
            <a:off x="581025" y="3533775"/>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71" name="Google Shape;671;p49"/>
          <p:cNvSpPr txBox="1"/>
          <p:nvPr/>
        </p:nvSpPr>
        <p:spPr>
          <a:xfrm>
            <a:off x="581025" y="4227016"/>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72" name="Google Shape;672;p49"/>
          <p:cNvSpPr txBox="1"/>
          <p:nvPr/>
        </p:nvSpPr>
        <p:spPr>
          <a:xfrm>
            <a:off x="6629400" y="2413992"/>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73" name="Google Shape;673;p49"/>
          <p:cNvSpPr txBox="1"/>
          <p:nvPr/>
        </p:nvSpPr>
        <p:spPr>
          <a:xfrm>
            <a:off x="6629400" y="3396704"/>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74" name="Google Shape;674;p49"/>
          <p:cNvSpPr txBox="1"/>
          <p:nvPr/>
        </p:nvSpPr>
        <p:spPr>
          <a:xfrm>
            <a:off x="6629400" y="4668887"/>
            <a:ext cx="1620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descr="image.png" id="679" name="Google Shape;679;p5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80" name="Google Shape;680;p50"/>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Limitations &amp; Future Work</a:t>
            </a:r>
            <a:endParaRPr/>
          </a:p>
        </p:txBody>
      </p:sp>
      <p:sp>
        <p:nvSpPr>
          <p:cNvPr id="681" name="Google Shape;681;p50"/>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2" name="Google Shape;682;p50"/>
          <p:cNvSpPr txBox="1"/>
          <p:nvPr/>
        </p:nvSpPr>
        <p:spPr>
          <a:xfrm>
            <a:off x="581025" y="3078509"/>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Current Limitations</a:t>
            </a:r>
            <a:endParaRPr/>
          </a:p>
        </p:txBody>
      </p:sp>
      <p:sp>
        <p:nvSpPr>
          <p:cNvPr id="683" name="Google Shape;683;p50"/>
          <p:cNvSpPr txBox="1"/>
          <p:nvPr/>
        </p:nvSpPr>
        <p:spPr>
          <a:xfrm>
            <a:off x="6334125" y="2587228"/>
            <a:ext cx="5540692" cy="27235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Future Improvements</a:t>
            </a:r>
            <a:endParaRPr/>
          </a:p>
        </p:txBody>
      </p:sp>
      <p:sp>
        <p:nvSpPr>
          <p:cNvPr id="684" name="Google Shape;684;p50"/>
          <p:cNvSpPr txBox="1"/>
          <p:nvPr/>
        </p:nvSpPr>
        <p:spPr>
          <a:xfrm>
            <a:off x="809625" y="3503265"/>
            <a:ext cx="5048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Binary Framing:</a:t>
            </a:r>
            <a:r>
              <a:rPr b="0" i="0" lang="en-US" sz="1425" u="none" cap="none" strike="noStrike">
                <a:solidFill>
                  <a:srgbClr val="CBD5E1"/>
                </a:solidFill>
                <a:latin typeface="Manrope"/>
                <a:ea typeface="Manrope"/>
                <a:cs typeface="Manrope"/>
                <a:sym typeface="Manrope"/>
              </a:rPr>
              <a:t> Loses the nuance of graded polarization.</a:t>
            </a:r>
            <a:endParaRPr/>
          </a:p>
        </p:txBody>
      </p:sp>
      <p:sp>
        <p:nvSpPr>
          <p:cNvPr id="685" name="Google Shape;685;p50"/>
          <p:cNvSpPr txBox="1"/>
          <p:nvPr/>
        </p:nvSpPr>
        <p:spPr>
          <a:xfrm>
            <a:off x="809625" y="3907035"/>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Proxy Validation:</a:t>
            </a:r>
            <a:r>
              <a:rPr b="0" i="0" lang="en-US" sz="1425" u="none" cap="none" strike="noStrike">
                <a:solidFill>
                  <a:srgbClr val="CBD5E1"/>
                </a:solidFill>
                <a:latin typeface="Manrope"/>
                <a:ea typeface="Manrope"/>
                <a:cs typeface="Manrope"/>
                <a:sym typeface="Manrope"/>
              </a:rPr>
              <a:t> Internal val scores (~0.81) were higher than official (~0.78), indicating distribution shift.</a:t>
            </a:r>
            <a:endParaRPr/>
          </a:p>
        </p:txBody>
      </p:sp>
      <p:sp>
        <p:nvSpPr>
          <p:cNvPr id="686" name="Google Shape;686;p50"/>
          <p:cNvSpPr txBox="1"/>
          <p:nvPr/>
        </p:nvSpPr>
        <p:spPr>
          <a:xfrm>
            <a:off x="6562725" y="3011983"/>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Language-Aware Calibration:</a:t>
            </a:r>
            <a:r>
              <a:rPr b="0" i="0" lang="en-US" sz="1425" u="none" cap="none" strike="noStrike">
                <a:solidFill>
                  <a:srgbClr val="CBD5E1"/>
                </a:solidFill>
                <a:latin typeface="Manrope"/>
                <a:ea typeface="Manrope"/>
                <a:cs typeface="Manrope"/>
                <a:sym typeface="Manrope"/>
              </a:rPr>
              <a:t> Per-language thresholds instead of a global one.</a:t>
            </a:r>
            <a:endParaRPr/>
          </a:p>
        </p:txBody>
      </p:sp>
      <p:sp>
        <p:nvSpPr>
          <p:cNvPr id="687" name="Google Shape;687;p50"/>
          <p:cNvSpPr txBox="1"/>
          <p:nvPr/>
        </p:nvSpPr>
        <p:spPr>
          <a:xfrm>
            <a:off x="6562725" y="3705225"/>
            <a:ext cx="5048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lang="en-US" sz="1425">
                <a:solidFill>
                  <a:srgbClr val="CBD5E1"/>
                </a:solidFill>
                <a:latin typeface="Manrope"/>
                <a:ea typeface="Manrope"/>
                <a:cs typeface="Manrope"/>
                <a:sym typeface="Manrope"/>
              </a:rPr>
              <a:t>Comprehensive</a:t>
            </a:r>
            <a:r>
              <a:rPr b="1" lang="en-US" sz="1425">
                <a:solidFill>
                  <a:srgbClr val="CBD5E1"/>
                </a:solidFill>
                <a:latin typeface="Manrope"/>
                <a:ea typeface="Manrope"/>
                <a:cs typeface="Manrope"/>
                <a:sym typeface="Manrope"/>
              </a:rPr>
              <a:t> </a:t>
            </a:r>
            <a:r>
              <a:rPr b="1" i="0" lang="en-US" sz="1425" u="none" cap="none" strike="noStrike">
                <a:solidFill>
                  <a:srgbClr val="CBD5E1"/>
                </a:solidFill>
                <a:latin typeface="Manrope"/>
                <a:ea typeface="Manrope"/>
                <a:cs typeface="Manrope"/>
                <a:sym typeface="Manrope"/>
              </a:rPr>
              <a:t> Augmentation:</a:t>
            </a:r>
            <a:r>
              <a:rPr b="0" i="0" lang="en-US" sz="1425" u="none" cap="none" strike="noStrike">
                <a:solidFill>
                  <a:srgbClr val="CBD5E1"/>
                </a:solidFill>
                <a:latin typeface="Manrope"/>
                <a:ea typeface="Manrope"/>
                <a:cs typeface="Manrope"/>
                <a:sym typeface="Manrope"/>
              </a:rPr>
              <a:t> Generate hard non-polarized examples, not just using the polarized ones.</a:t>
            </a:r>
            <a:endParaRPr/>
          </a:p>
        </p:txBody>
      </p:sp>
      <p:sp>
        <p:nvSpPr>
          <p:cNvPr id="688" name="Google Shape;688;p50"/>
          <p:cNvSpPr txBox="1"/>
          <p:nvPr/>
        </p:nvSpPr>
        <p:spPr>
          <a:xfrm>
            <a:off x="6562725" y="4398466"/>
            <a:ext cx="5048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Direct Multilingual Teacher:</a:t>
            </a:r>
            <a:r>
              <a:rPr b="0" i="0" lang="en-US" sz="1425" u="none" cap="none" strike="noStrike">
                <a:solidFill>
                  <a:srgbClr val="CBD5E1"/>
                </a:solidFill>
                <a:latin typeface="Manrope"/>
                <a:ea typeface="Manrope"/>
                <a:cs typeface="Manrope"/>
                <a:sym typeface="Manrope"/>
              </a:rPr>
              <a:t> Train teacher to handle more scripts natively to reduce translation dependence.</a:t>
            </a:r>
            <a:endParaRPr/>
          </a:p>
        </p:txBody>
      </p:sp>
      <p:sp>
        <p:nvSpPr>
          <p:cNvPr id="689" name="Google Shape;689;p50"/>
          <p:cNvSpPr txBox="1"/>
          <p:nvPr/>
        </p:nvSpPr>
        <p:spPr>
          <a:xfrm>
            <a:off x="581025" y="348421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90" name="Google Shape;690;p50"/>
          <p:cNvSpPr txBox="1"/>
          <p:nvPr/>
        </p:nvSpPr>
        <p:spPr>
          <a:xfrm>
            <a:off x="581025" y="388798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91" name="Google Shape;691;p50"/>
          <p:cNvSpPr txBox="1"/>
          <p:nvPr/>
        </p:nvSpPr>
        <p:spPr>
          <a:xfrm>
            <a:off x="6334125" y="2992933"/>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92" name="Google Shape;692;p50"/>
          <p:cNvSpPr txBox="1"/>
          <p:nvPr/>
        </p:nvSpPr>
        <p:spPr>
          <a:xfrm>
            <a:off x="6334125" y="368617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693" name="Google Shape;693;p50"/>
          <p:cNvSpPr txBox="1"/>
          <p:nvPr/>
        </p:nvSpPr>
        <p:spPr>
          <a:xfrm>
            <a:off x="6334125" y="4379416"/>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descr="image.png" id="698" name="Google Shape;698;p5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99" name="Google Shape;699;p51"/>
          <p:cNvPicPr preferRelativeResize="0"/>
          <p:nvPr/>
        </p:nvPicPr>
        <p:blipFill rotWithShape="1">
          <a:blip r:embed="rId4">
            <a:alphaModFix/>
          </a:blip>
          <a:srcRect b="0" l="0" r="0" t="0"/>
          <a:stretch/>
        </p:blipFill>
        <p:spPr>
          <a:xfrm>
            <a:off x="581025" y="3505200"/>
            <a:ext cx="3517850" cy="1902767"/>
          </a:xfrm>
          <a:prstGeom prst="rect">
            <a:avLst/>
          </a:prstGeom>
          <a:noFill/>
          <a:ln>
            <a:noFill/>
          </a:ln>
        </p:spPr>
      </p:pic>
      <p:pic>
        <p:nvPicPr>
          <p:cNvPr descr="image.png" id="700" name="Google Shape;700;p51"/>
          <p:cNvPicPr preferRelativeResize="0"/>
          <p:nvPr/>
        </p:nvPicPr>
        <p:blipFill rotWithShape="1">
          <a:blip r:embed="rId5">
            <a:alphaModFix/>
          </a:blip>
          <a:srcRect b="0" l="0" r="0" t="0"/>
          <a:stretch/>
        </p:blipFill>
        <p:spPr>
          <a:xfrm>
            <a:off x="4337000" y="3505200"/>
            <a:ext cx="3517850" cy="1902767"/>
          </a:xfrm>
          <a:prstGeom prst="rect">
            <a:avLst/>
          </a:prstGeom>
          <a:noFill/>
          <a:ln>
            <a:noFill/>
          </a:ln>
        </p:spPr>
      </p:pic>
      <p:pic>
        <p:nvPicPr>
          <p:cNvPr descr="image.png" id="701" name="Google Shape;701;p51"/>
          <p:cNvPicPr preferRelativeResize="0"/>
          <p:nvPr/>
        </p:nvPicPr>
        <p:blipFill rotWithShape="1">
          <a:blip r:embed="rId5">
            <a:alphaModFix/>
          </a:blip>
          <a:srcRect b="0" l="0" r="0" t="0"/>
          <a:stretch/>
        </p:blipFill>
        <p:spPr>
          <a:xfrm>
            <a:off x="8092975" y="3505200"/>
            <a:ext cx="3517850" cy="1902767"/>
          </a:xfrm>
          <a:prstGeom prst="rect">
            <a:avLst/>
          </a:prstGeom>
          <a:noFill/>
          <a:ln>
            <a:noFill/>
          </a:ln>
        </p:spPr>
      </p:pic>
      <p:sp>
        <p:nvSpPr>
          <p:cNvPr id="702" name="Google Shape;702;p51"/>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Conclusion</a:t>
            </a:r>
            <a:endParaRPr/>
          </a:p>
        </p:txBody>
      </p:sp>
      <p:sp>
        <p:nvSpPr>
          <p:cNvPr id="703" name="Google Shape;703;p51"/>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4" name="Google Shape;704;p51"/>
          <p:cNvSpPr txBox="1"/>
          <p:nvPr/>
        </p:nvSpPr>
        <p:spPr>
          <a:xfrm>
            <a:off x="581025" y="2270819"/>
            <a:ext cx="11029950" cy="85338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CBD5E1"/>
                </a:solidFill>
                <a:latin typeface="Manrope"/>
                <a:ea typeface="Manrope"/>
                <a:cs typeface="Manrope"/>
                <a:sym typeface="Manrope"/>
              </a:rPr>
              <a:t>We addressed the 22-language Polarization Detection task using a </a:t>
            </a:r>
            <a:r>
              <a:rPr b="1" i="0" lang="en-US" sz="2100" u="none" cap="none" strike="noStrike">
                <a:solidFill>
                  <a:srgbClr val="6366F1"/>
                </a:solidFill>
                <a:latin typeface="Manrope"/>
                <a:ea typeface="Manrope"/>
                <a:cs typeface="Manrope"/>
                <a:sym typeface="Manrope"/>
              </a:rPr>
              <a:t>Teacher-Student Distillation Pipeline</a:t>
            </a:r>
            <a:r>
              <a:rPr b="0" i="0" lang="en-US" sz="2100" u="none" cap="none" strike="noStrike">
                <a:solidFill>
                  <a:srgbClr val="CBD5E1"/>
                </a:solidFill>
                <a:latin typeface="Manrope"/>
                <a:ea typeface="Manrope"/>
                <a:cs typeface="Manrope"/>
                <a:sym typeface="Manrope"/>
              </a:rPr>
              <a:t>.</a:t>
            </a:r>
            <a:endParaRPr/>
          </a:p>
        </p:txBody>
      </p:sp>
      <p:sp>
        <p:nvSpPr>
          <p:cNvPr id="705" name="Google Shape;705;p51"/>
          <p:cNvSpPr txBox="1"/>
          <p:nvPr/>
        </p:nvSpPr>
        <p:spPr>
          <a:xfrm>
            <a:off x="753111" y="3752850"/>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Robustness</a:t>
            </a:r>
            <a:endParaRPr/>
          </a:p>
        </p:txBody>
      </p:sp>
      <p:sp>
        <p:nvSpPr>
          <p:cNvPr id="706" name="Google Shape;706;p51"/>
          <p:cNvSpPr txBox="1"/>
          <p:nvPr/>
        </p:nvSpPr>
        <p:spPr>
          <a:xfrm>
            <a:off x="828675" y="4177605"/>
            <a:ext cx="3022550"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Prioritized honest generalization by removing leaky features and handling missing data safely.</a:t>
            </a:r>
            <a:endParaRPr/>
          </a:p>
        </p:txBody>
      </p:sp>
      <p:sp>
        <p:nvSpPr>
          <p:cNvPr id="707" name="Google Shape;707;p51"/>
          <p:cNvSpPr txBox="1"/>
          <p:nvPr/>
        </p:nvSpPr>
        <p:spPr>
          <a:xfrm>
            <a:off x="4509086" y="3752850"/>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Performance</a:t>
            </a:r>
            <a:endParaRPr/>
          </a:p>
        </p:txBody>
      </p:sp>
      <p:sp>
        <p:nvSpPr>
          <p:cNvPr id="708" name="Google Shape;708;p51"/>
          <p:cNvSpPr txBox="1"/>
          <p:nvPr/>
        </p:nvSpPr>
        <p:spPr>
          <a:xfrm>
            <a:off x="4584650" y="4177605"/>
            <a:ext cx="3022550"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Achieved </a:t>
            </a:r>
            <a:r>
              <a:rPr b="1" i="0" lang="en-US" sz="1425" u="none" cap="none" strike="noStrike">
                <a:solidFill>
                  <a:srgbClr val="CBD5E1"/>
                </a:solidFill>
                <a:latin typeface="Manrope"/>
                <a:ea typeface="Manrope"/>
                <a:cs typeface="Manrope"/>
                <a:sym typeface="Manrope"/>
              </a:rPr>
              <a:t>0.783 Macro F1</a:t>
            </a:r>
            <a:r>
              <a:rPr b="0" i="0" lang="en-US" sz="1425" u="none" cap="none" strike="noStrike">
                <a:solidFill>
                  <a:srgbClr val="CBD5E1"/>
                </a:solidFill>
                <a:latin typeface="Manrope"/>
                <a:ea typeface="Manrope"/>
                <a:cs typeface="Manrope"/>
                <a:sym typeface="Manrope"/>
              </a:rPr>
              <a:t> on the official evaluation.</a:t>
            </a:r>
            <a:endParaRPr/>
          </a:p>
        </p:txBody>
      </p:sp>
      <p:sp>
        <p:nvSpPr>
          <p:cNvPr id="709" name="Google Shape;709;p51"/>
          <p:cNvSpPr txBox="1"/>
          <p:nvPr/>
        </p:nvSpPr>
        <p:spPr>
          <a:xfrm>
            <a:off x="8265062" y="3752850"/>
            <a:ext cx="3173677" cy="27235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950" u="none" cap="none" strike="noStrike">
                <a:solidFill>
                  <a:srgbClr val="818CF8"/>
                </a:solidFill>
                <a:latin typeface="Manrope SemiBold"/>
                <a:ea typeface="Manrope SemiBold"/>
                <a:cs typeface="Manrope SemiBold"/>
                <a:sym typeface="Manrope SemiBold"/>
              </a:rPr>
              <a:t>Efficiency</a:t>
            </a:r>
            <a:endParaRPr/>
          </a:p>
        </p:txBody>
      </p:sp>
      <p:sp>
        <p:nvSpPr>
          <p:cNvPr id="710" name="Google Shape;710;p51"/>
          <p:cNvSpPr txBox="1"/>
          <p:nvPr/>
        </p:nvSpPr>
        <p:spPr>
          <a:xfrm>
            <a:off x="8340625" y="4177605"/>
            <a:ext cx="3022550"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Manrope"/>
                <a:ea typeface="Manrope"/>
                <a:cs typeface="Manrope"/>
                <a:sym typeface="Manrope"/>
              </a:rPr>
              <a:t>Delivered a compact student model suitable for deployment.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pic>
        <p:nvPicPr>
          <p:cNvPr descr="image.png" id="715" name="Google Shape;715;p5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16" name="Google Shape;716;p52"/>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Team Contributions</a:t>
            </a:r>
            <a:endParaRPr/>
          </a:p>
        </p:txBody>
      </p:sp>
      <p:sp>
        <p:nvSpPr>
          <p:cNvPr id="717" name="Google Shape;717;p52"/>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718" name="Google Shape;718;p52"/>
          <p:cNvGraphicFramePr/>
          <p:nvPr/>
        </p:nvGraphicFramePr>
        <p:xfrm>
          <a:off x="581025" y="2244030"/>
          <a:ext cx="3000000" cy="3000000"/>
        </p:xfrm>
        <a:graphic>
          <a:graphicData uri="http://schemas.openxmlformats.org/drawingml/2006/table">
            <a:tbl>
              <a:tblPr bandRow="1" firstRow="1">
                <a:noFill/>
                <a:tableStyleId>{E0E25B36-2C86-4994-86C3-6929DEDAE696}</a:tableStyleId>
              </a:tblPr>
              <a:tblGrid>
                <a:gridCol w="1867200"/>
                <a:gridCol w="9162750"/>
              </a:tblGrid>
              <a:tr h="531800">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Member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c>
                  <a:txBody>
                    <a:bodyPr/>
                    <a:lstStyle/>
                    <a:p>
                      <a:pPr indent="0" lvl="0" marL="0" marR="0" rtl="0" algn="l">
                        <a:spcBef>
                          <a:spcPts val="0"/>
                        </a:spcBef>
                        <a:spcAft>
                          <a:spcPts val="0"/>
                        </a:spcAft>
                        <a:buNone/>
                      </a:pPr>
                      <a:r>
                        <a:rPr b="0" i="0" lang="en-US" sz="1050" u="none" cap="none" strike="noStrike">
                          <a:solidFill>
                            <a:srgbClr val="A5B4FC"/>
                          </a:solidFill>
                          <a:latin typeface="Manrope SemiBold"/>
                          <a:ea typeface="Manrope SemiBold"/>
                          <a:cs typeface="Manrope SemiBold"/>
                          <a:sym typeface="Manrope SemiBold"/>
                        </a:rPr>
                        <a:t>Role &amp; Contribution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74151"/>
                    </a:solidFill>
                  </a:tcPr>
                </a:tc>
              </a:tr>
              <a:tr h="531800">
                <a:tc>
                  <a:txBody>
                    <a:bodyPr/>
                    <a:lstStyle/>
                    <a:p>
                      <a:pPr indent="0" lvl="0" marL="0" marR="0" rtl="0" algn="l">
                        <a:spcBef>
                          <a:spcPts val="0"/>
                        </a:spcBef>
                        <a:spcAft>
                          <a:spcPts val="0"/>
                        </a:spcAft>
                        <a:buNone/>
                      </a:pPr>
                      <a:r>
                        <a:rPr b="1" i="0" lang="en-US" sz="1350" u="none" cap="none" strike="noStrike">
                          <a:latin typeface="Manrope"/>
                          <a:ea typeface="Manrope"/>
                          <a:cs typeface="Manrope"/>
                          <a:sym typeface="Manrope"/>
                        </a:rPr>
                        <a:t>Mohamad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System Architecture, Student Training Pipeline, Submission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31800">
                <a:tc>
                  <a:txBody>
                    <a:bodyPr/>
                    <a:lstStyle/>
                    <a:p>
                      <a:pPr indent="0" lvl="0" marL="0" marR="0" rtl="0" algn="l">
                        <a:spcBef>
                          <a:spcPts val="0"/>
                        </a:spcBef>
                        <a:spcAft>
                          <a:spcPts val="0"/>
                        </a:spcAft>
                        <a:buNone/>
                      </a:pPr>
                      <a:r>
                        <a:rPr b="1" i="0" lang="en-US" sz="1350" u="none" cap="none" strike="noStrike">
                          <a:latin typeface="Manrope"/>
                          <a:ea typeface="Manrope"/>
                          <a:cs typeface="Manrope"/>
                          <a:sym typeface="Manrope"/>
                        </a:rPr>
                        <a:t>Eid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Synthetic Data Generation (Phase 1), Seed Selection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31800">
                <a:tc>
                  <a:txBody>
                    <a:bodyPr/>
                    <a:lstStyle/>
                    <a:p>
                      <a:pPr indent="0" lvl="0" marL="0" marR="0" rtl="0" algn="l">
                        <a:spcBef>
                          <a:spcPts val="0"/>
                        </a:spcBef>
                        <a:spcAft>
                          <a:spcPts val="0"/>
                        </a:spcAft>
                        <a:buNone/>
                      </a:pPr>
                      <a:r>
                        <a:rPr b="1" i="0" lang="en-US" sz="1350" u="none" cap="none" strike="noStrike">
                          <a:latin typeface="Manrope"/>
                          <a:ea typeface="Manrope"/>
                          <a:cs typeface="Manrope"/>
                          <a:sym typeface="Manrope"/>
                        </a:rPr>
                        <a:t>Layan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Translation Pipeline, Sharding Logic, Integrity Checks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31800">
                <a:tc>
                  <a:txBody>
                    <a:bodyPr/>
                    <a:lstStyle/>
                    <a:p>
                      <a:pPr indent="0" lvl="0" marL="0" marR="0" rtl="0" algn="l">
                        <a:spcBef>
                          <a:spcPts val="0"/>
                        </a:spcBef>
                        <a:spcAft>
                          <a:spcPts val="0"/>
                        </a:spcAft>
                        <a:buNone/>
                      </a:pPr>
                      <a:r>
                        <a:rPr b="1" i="0" lang="en-US" sz="1350" u="none" cap="none" strike="noStrike">
                          <a:latin typeface="Manrope"/>
                          <a:ea typeface="Manrope"/>
                          <a:cs typeface="Manrope"/>
                          <a:sym typeface="Manrope"/>
                        </a:rPr>
                        <a:t>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Teacher A Training, Leakage-Safe Splits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31825">
                <a:tc>
                  <a:txBody>
                    <a:bodyPr/>
                    <a:lstStyle/>
                    <a:p>
                      <a:pPr indent="0" lvl="0" marL="0" marR="0" rtl="0" algn="l">
                        <a:spcBef>
                          <a:spcPts val="0"/>
                        </a:spcBef>
                        <a:spcAft>
                          <a:spcPts val="0"/>
                        </a:spcAft>
                        <a:buNone/>
                      </a:pPr>
                      <a:r>
                        <a:rPr b="1" i="0" lang="en-US" sz="1350" u="none" cap="none" strike="noStrike">
                          <a:latin typeface="Manrope"/>
                          <a:ea typeface="Manrope"/>
                          <a:cs typeface="Manrope"/>
                          <a:sym typeface="Manrope"/>
                        </a:rPr>
                        <a:t>Yasin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Manrope"/>
                          <a:ea typeface="Manrope"/>
                          <a:cs typeface="Manrope"/>
                          <a:sym typeface="Manrope"/>
                        </a:rPr>
                        <a:t>Teacher Logits Generation &amp; Export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19" name="Google Shape;719;p52"/>
          <p:cNvSpPr/>
          <p:nvPr/>
        </p:nvSpPr>
        <p:spPr>
          <a:xfrm>
            <a:off x="581025" y="3258442"/>
            <a:ext cx="186719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0" name="Google Shape;720;p52"/>
          <p:cNvSpPr/>
          <p:nvPr/>
        </p:nvSpPr>
        <p:spPr>
          <a:xfrm>
            <a:off x="2448222" y="3258442"/>
            <a:ext cx="916275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1" name="Google Shape;721;p52"/>
          <p:cNvSpPr/>
          <p:nvPr/>
        </p:nvSpPr>
        <p:spPr>
          <a:xfrm>
            <a:off x="581025" y="3801367"/>
            <a:ext cx="186719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2" name="Google Shape;722;p52"/>
          <p:cNvSpPr/>
          <p:nvPr/>
        </p:nvSpPr>
        <p:spPr>
          <a:xfrm>
            <a:off x="2448222" y="3801367"/>
            <a:ext cx="916275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3" name="Google Shape;723;p52"/>
          <p:cNvSpPr/>
          <p:nvPr/>
        </p:nvSpPr>
        <p:spPr>
          <a:xfrm>
            <a:off x="581025" y="4344292"/>
            <a:ext cx="186719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4" name="Google Shape;724;p52"/>
          <p:cNvSpPr/>
          <p:nvPr/>
        </p:nvSpPr>
        <p:spPr>
          <a:xfrm>
            <a:off x="2448222" y="4344292"/>
            <a:ext cx="916275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5" name="Google Shape;725;p52"/>
          <p:cNvSpPr/>
          <p:nvPr/>
        </p:nvSpPr>
        <p:spPr>
          <a:xfrm>
            <a:off x="581025" y="4887217"/>
            <a:ext cx="1867197"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6" name="Google Shape;726;p52"/>
          <p:cNvSpPr/>
          <p:nvPr/>
        </p:nvSpPr>
        <p:spPr>
          <a:xfrm>
            <a:off x="2448222" y="4887217"/>
            <a:ext cx="9162752" cy="9525"/>
          </a:xfrm>
          <a:prstGeom prst="rect">
            <a:avLst/>
          </a:prstGeom>
          <a:solidFill>
            <a:srgbClr val="3741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descr="image.png" id="731" name="Google Shape;731;p5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32" name="Google Shape;732;p53"/>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References</a:t>
            </a:r>
            <a:endParaRPr/>
          </a:p>
        </p:txBody>
      </p:sp>
      <p:sp>
        <p:nvSpPr>
          <p:cNvPr id="733" name="Google Shape;733;p53"/>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4" name="Google Shape;734;p53"/>
          <p:cNvSpPr txBox="1"/>
          <p:nvPr/>
        </p:nvSpPr>
        <p:spPr>
          <a:xfrm>
            <a:off x="809625" y="2628155"/>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Conneau et al. (2020)</a:t>
            </a:r>
            <a:r>
              <a:rPr b="0" i="0" lang="en-US" sz="1425" u="none" cap="none" strike="noStrike">
                <a:solidFill>
                  <a:srgbClr val="CBD5E1"/>
                </a:solidFill>
                <a:latin typeface="Manrope"/>
                <a:ea typeface="Manrope"/>
                <a:cs typeface="Manrope"/>
                <a:sym typeface="Manrope"/>
              </a:rPr>
              <a:t>. Unsupervised Cross-lingual Representation Learning at Scale (XLM-R).</a:t>
            </a:r>
            <a:endParaRPr/>
          </a:p>
        </p:txBody>
      </p:sp>
      <p:sp>
        <p:nvSpPr>
          <p:cNvPr id="735" name="Google Shape;735;p53"/>
          <p:cNvSpPr txBox="1"/>
          <p:nvPr/>
        </p:nvSpPr>
        <p:spPr>
          <a:xfrm>
            <a:off x="809625" y="3031926"/>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Hinton et al. (2015)</a:t>
            </a:r>
            <a:r>
              <a:rPr b="0" i="0" lang="en-US" sz="1425" u="none" cap="none" strike="noStrike">
                <a:solidFill>
                  <a:srgbClr val="CBD5E1"/>
                </a:solidFill>
                <a:latin typeface="Manrope"/>
                <a:ea typeface="Manrope"/>
                <a:cs typeface="Manrope"/>
                <a:sym typeface="Manrope"/>
              </a:rPr>
              <a:t>. Distilling the Knowledge in a Neural Network.</a:t>
            </a:r>
            <a:endParaRPr/>
          </a:p>
        </p:txBody>
      </p:sp>
      <p:sp>
        <p:nvSpPr>
          <p:cNvPr id="736" name="Google Shape;736;p53"/>
          <p:cNvSpPr txBox="1"/>
          <p:nvPr/>
        </p:nvSpPr>
        <p:spPr>
          <a:xfrm>
            <a:off x="809625" y="3435697"/>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He et al. (2021)</a:t>
            </a:r>
            <a:r>
              <a:rPr b="0" i="0" lang="en-US" sz="1425" u="none" cap="none" strike="noStrike">
                <a:solidFill>
                  <a:srgbClr val="CBD5E1"/>
                </a:solidFill>
                <a:latin typeface="Manrope"/>
                <a:ea typeface="Manrope"/>
                <a:cs typeface="Manrope"/>
                <a:sym typeface="Manrope"/>
              </a:rPr>
              <a:t>. Detect and Understand the Polarization in News (PaCTE).</a:t>
            </a:r>
            <a:endParaRPr/>
          </a:p>
        </p:txBody>
      </p:sp>
      <p:sp>
        <p:nvSpPr>
          <p:cNvPr id="737" name="Google Shape;737;p53"/>
          <p:cNvSpPr txBox="1"/>
          <p:nvPr/>
        </p:nvSpPr>
        <p:spPr>
          <a:xfrm>
            <a:off x="809625" y="3839467"/>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Nugraha et al.</a:t>
            </a:r>
            <a:r>
              <a:rPr b="0" i="0" lang="en-US" sz="1425" u="none" cap="none" strike="noStrike">
                <a:solidFill>
                  <a:srgbClr val="CBD5E1"/>
                </a:solidFill>
                <a:latin typeface="Manrope"/>
                <a:ea typeface="Manrope"/>
                <a:cs typeface="Manrope"/>
                <a:sym typeface="Manrope"/>
              </a:rPr>
              <a:t> Multi-labeled Indonesian discourse dataset (Toxicity/Polarization).</a:t>
            </a:r>
            <a:endParaRPr/>
          </a:p>
        </p:txBody>
      </p:sp>
      <p:sp>
        <p:nvSpPr>
          <p:cNvPr id="738" name="Google Shape;738;p53"/>
          <p:cNvSpPr txBox="1"/>
          <p:nvPr/>
        </p:nvSpPr>
        <p:spPr>
          <a:xfrm>
            <a:off x="809625" y="4243238"/>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Zhang et al. (2023)</a:t>
            </a:r>
            <a:r>
              <a:rPr b="0" i="0" lang="en-US" sz="1425" u="none" cap="none" strike="noStrike">
                <a:solidFill>
                  <a:srgbClr val="CBD5E1"/>
                </a:solidFill>
                <a:latin typeface="Manrope"/>
                <a:ea typeface="Manrope"/>
                <a:cs typeface="Manrope"/>
                <a:sym typeface="Manrope"/>
              </a:rPr>
              <a:t>. Dual Distillation for Cross-Lingual Stance Detection.</a:t>
            </a:r>
            <a:endParaRPr/>
          </a:p>
        </p:txBody>
      </p:sp>
      <p:sp>
        <p:nvSpPr>
          <p:cNvPr id="739" name="Google Shape;739;p53"/>
          <p:cNvSpPr txBox="1"/>
          <p:nvPr/>
        </p:nvSpPr>
        <p:spPr>
          <a:xfrm>
            <a:off x="809625" y="4647009"/>
            <a:ext cx="108013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CBD5E1"/>
                </a:solidFill>
                <a:latin typeface="Manrope"/>
                <a:ea typeface="Manrope"/>
                <a:cs typeface="Manrope"/>
                <a:sym typeface="Manrope"/>
              </a:rPr>
              <a:t>Grootendorst (2022)</a:t>
            </a:r>
            <a:r>
              <a:rPr b="0" i="0" lang="en-US" sz="1425" u="none" cap="none" strike="noStrike">
                <a:solidFill>
                  <a:srgbClr val="CBD5E1"/>
                </a:solidFill>
                <a:latin typeface="Manrope"/>
                <a:ea typeface="Manrope"/>
                <a:cs typeface="Manrope"/>
                <a:sym typeface="Manrope"/>
              </a:rPr>
              <a:t>. BERTopic: Neural topic modeling with a class-based TF-IDF procedure.</a:t>
            </a:r>
            <a:endParaRPr/>
          </a:p>
        </p:txBody>
      </p:sp>
      <p:sp>
        <p:nvSpPr>
          <p:cNvPr id="740" name="Google Shape;740;p53"/>
          <p:cNvSpPr txBox="1"/>
          <p:nvPr/>
        </p:nvSpPr>
        <p:spPr>
          <a:xfrm>
            <a:off x="581025" y="2609105"/>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41" name="Google Shape;741;p53"/>
          <p:cNvSpPr txBox="1"/>
          <p:nvPr/>
        </p:nvSpPr>
        <p:spPr>
          <a:xfrm>
            <a:off x="581025" y="3012876"/>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42" name="Google Shape;742;p53"/>
          <p:cNvSpPr txBox="1"/>
          <p:nvPr/>
        </p:nvSpPr>
        <p:spPr>
          <a:xfrm>
            <a:off x="581025" y="3416647"/>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43" name="Google Shape;743;p53"/>
          <p:cNvSpPr txBox="1"/>
          <p:nvPr/>
        </p:nvSpPr>
        <p:spPr>
          <a:xfrm>
            <a:off x="581025" y="3820417"/>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44" name="Google Shape;744;p53"/>
          <p:cNvSpPr txBox="1"/>
          <p:nvPr/>
        </p:nvSpPr>
        <p:spPr>
          <a:xfrm>
            <a:off x="581025" y="4224188"/>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45" name="Google Shape;745;p53"/>
          <p:cNvSpPr txBox="1"/>
          <p:nvPr/>
        </p:nvSpPr>
        <p:spPr>
          <a:xfrm>
            <a:off x="581025" y="4627959"/>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descr="image.png" id="750" name="Google Shape;750;p5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1" name="Google Shape;751;p54"/>
          <p:cNvSpPr txBox="1"/>
          <p:nvPr/>
        </p:nvSpPr>
        <p:spPr>
          <a:xfrm>
            <a:off x="4623315" y="2404169"/>
            <a:ext cx="2945368" cy="1257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9000" u="none" cap="none" strike="noStrike">
                <a:solidFill>
                  <a:srgbClr val="F8FAFC"/>
                </a:solidFill>
                <a:latin typeface="Manrope ExtraBold"/>
                <a:ea typeface="Manrope ExtraBold"/>
                <a:cs typeface="Manrope ExtraBold"/>
                <a:sym typeface="Manrope ExtraBold"/>
              </a:rPr>
              <a:t>Q &amp; A</a:t>
            </a:r>
            <a:endParaRPr/>
          </a:p>
        </p:txBody>
      </p:sp>
      <p:sp>
        <p:nvSpPr>
          <p:cNvPr id="752" name="Google Shape;752;p54"/>
          <p:cNvSpPr txBox="1"/>
          <p:nvPr/>
        </p:nvSpPr>
        <p:spPr>
          <a:xfrm>
            <a:off x="4086225" y="3851969"/>
            <a:ext cx="40195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A5B4FC"/>
                </a:solidFill>
                <a:latin typeface="Manrope"/>
                <a:ea typeface="Manrope"/>
                <a:cs typeface="Manrope"/>
                <a:sym typeface="Manrope"/>
              </a:rPr>
              <a:t>Thank you for your attention.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pic>
        <p:nvPicPr>
          <p:cNvPr descr="image.png" id="757" name="Google Shape;757;p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8" name="Google Shape;758;p55"/>
          <p:cNvSpPr txBox="1"/>
          <p:nvPr/>
        </p:nvSpPr>
        <p:spPr>
          <a:xfrm>
            <a:off x="771525" y="485775"/>
            <a:ext cx="11381422" cy="43993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3150" u="none" cap="none" strike="noStrike">
                <a:solidFill>
                  <a:srgbClr val="E0E7FF"/>
                </a:solidFill>
                <a:latin typeface="Manrope"/>
                <a:ea typeface="Manrope"/>
                <a:cs typeface="Manrope"/>
                <a:sym typeface="Manrope"/>
              </a:rPr>
              <a:t>Image Sources</a:t>
            </a:r>
            <a:endParaRPr/>
          </a:p>
        </p:txBody>
      </p:sp>
      <p:sp>
        <p:nvSpPr>
          <p:cNvPr id="759" name="Google Shape;759;p55"/>
          <p:cNvSpPr/>
          <p:nvPr/>
        </p:nvSpPr>
        <p:spPr>
          <a:xfrm>
            <a:off x="581025" y="485775"/>
            <a:ext cx="47625" cy="43993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0" name="Google Shape;760;p55"/>
          <p:cNvSpPr/>
          <p:nvPr/>
        </p:nvSpPr>
        <p:spPr>
          <a:xfrm>
            <a:off x="581025" y="2468909"/>
            <a:ext cx="1102995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1" name="Google Shape;761;p55"/>
          <p:cNvSpPr/>
          <p:nvPr/>
        </p:nvSpPr>
        <p:spPr>
          <a:xfrm>
            <a:off x="581025" y="3451770"/>
            <a:ext cx="11030100" cy="78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55"/>
          <p:cNvSpPr/>
          <p:nvPr/>
        </p:nvSpPr>
        <p:spPr>
          <a:xfrm>
            <a:off x="581025" y="3442245"/>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55"/>
          <p:cNvSpPr/>
          <p:nvPr/>
        </p:nvSpPr>
        <p:spPr>
          <a:xfrm>
            <a:off x="581025" y="3442245"/>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4" name="Google Shape;764;p55"/>
          <p:cNvSpPr txBox="1"/>
          <p:nvPr/>
        </p:nvSpPr>
        <p:spPr>
          <a:xfrm>
            <a:off x="581025" y="3432720"/>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sp>
        <p:nvSpPr>
          <p:cNvPr id="765" name="Google Shape;765;p55"/>
          <p:cNvSpPr/>
          <p:nvPr/>
        </p:nvSpPr>
        <p:spPr>
          <a:xfrm>
            <a:off x="581025" y="4227016"/>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6" name="Google Shape;766;p55"/>
          <p:cNvSpPr/>
          <p:nvPr/>
        </p:nvSpPr>
        <p:spPr>
          <a:xfrm>
            <a:off x="581025" y="4227016"/>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7" name="Google Shape;767;p55"/>
          <p:cNvSpPr txBox="1"/>
          <p:nvPr/>
        </p:nvSpPr>
        <p:spPr>
          <a:xfrm>
            <a:off x="581025" y="4217491"/>
            <a:ext cx="16192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6366F1"/>
                </a:solidFill>
                <a:latin typeface="Manrope"/>
                <a:ea typeface="Manrope"/>
                <a:cs typeface="Manrope"/>
                <a:sym typeface="Manrope"/>
              </a:rPr>
              <a:t>•</a:t>
            </a:r>
            <a:endParaRPr/>
          </a:p>
        </p:txBody>
      </p:sp>
      <p:pic>
        <p:nvPicPr>
          <p:cNvPr descr="image.png" id="768" name="Google Shape;768;p55"/>
          <p:cNvPicPr preferRelativeResize="0"/>
          <p:nvPr/>
        </p:nvPicPr>
        <p:blipFill rotWithShape="1">
          <a:blip r:embed="rId4">
            <a:alphaModFix/>
          </a:blip>
          <a:srcRect b="0" l="0" r="0" t="0"/>
          <a:stretch/>
        </p:blipFill>
        <p:spPr>
          <a:xfrm>
            <a:off x="581025" y="3601194"/>
            <a:ext cx="857250" cy="476250"/>
          </a:xfrm>
          <a:prstGeom prst="rect">
            <a:avLst/>
          </a:prstGeom>
          <a:noFill/>
          <a:ln>
            <a:noFill/>
          </a:ln>
        </p:spPr>
      </p:pic>
      <p:sp>
        <p:nvSpPr>
          <p:cNvPr id="769" name="Google Shape;769;p55"/>
          <p:cNvSpPr txBox="1"/>
          <p:nvPr/>
        </p:nvSpPr>
        <p:spPr>
          <a:xfrm>
            <a:off x="1676400" y="3594645"/>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Manrope"/>
                <a:ea typeface="Manrope"/>
                <a:cs typeface="Manrope"/>
                <a:sym typeface="Manrope"/>
              </a:rPr>
              <a:t>https://img.freepik.com/premium-photo/futuristic-classroom-with-robot-teacher-instructing-group-attentive-students_856795-104932.jpg</a:t>
            </a:r>
            <a:endParaRPr/>
          </a:p>
        </p:txBody>
      </p:sp>
      <p:sp>
        <p:nvSpPr>
          <p:cNvPr id="770" name="Google Shape;770;p55"/>
          <p:cNvSpPr txBox="1"/>
          <p:nvPr/>
        </p:nvSpPr>
        <p:spPr>
          <a:xfrm>
            <a:off x="1676400" y="3840360"/>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Manrope"/>
                <a:ea typeface="Manrope"/>
                <a:cs typeface="Manrope"/>
                <a:sym typeface="Manrope"/>
              </a:rPr>
              <a:t>Source: </a:t>
            </a:r>
            <a:r>
              <a:rPr b="0" i="0" lang="en-US" sz="1200" u="none" cap="none" strike="noStrike">
                <a:solidFill>
                  <a:srgbClr val="4F46E5"/>
                </a:solidFill>
                <a:latin typeface="Manrope"/>
                <a:ea typeface="Manrope"/>
                <a:cs typeface="Manrope"/>
                <a:sym typeface="Manrope"/>
              </a:rPr>
              <a:t>www.freepik.com</a:t>
            </a:r>
            <a:endParaRPr/>
          </a:p>
        </p:txBody>
      </p:sp>
      <p:pic>
        <p:nvPicPr>
          <p:cNvPr descr="image.png" id="771" name="Google Shape;771;p55"/>
          <p:cNvPicPr preferRelativeResize="0"/>
          <p:nvPr/>
        </p:nvPicPr>
        <p:blipFill rotWithShape="1">
          <a:blip r:embed="rId5">
            <a:alphaModFix/>
          </a:blip>
          <a:srcRect b="0" l="0" r="0" t="0"/>
          <a:stretch/>
        </p:blipFill>
        <p:spPr>
          <a:xfrm>
            <a:off x="581025" y="4485084"/>
            <a:ext cx="857250" cy="476250"/>
          </a:xfrm>
          <a:prstGeom prst="rect">
            <a:avLst/>
          </a:prstGeom>
          <a:noFill/>
          <a:ln>
            <a:noFill/>
          </a:ln>
        </p:spPr>
      </p:pic>
      <p:sp>
        <p:nvSpPr>
          <p:cNvPr id="772" name="Google Shape;772;p55"/>
          <p:cNvSpPr txBox="1"/>
          <p:nvPr/>
        </p:nvSpPr>
        <p:spPr>
          <a:xfrm>
            <a:off x="1676400" y="4379416"/>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Manrope"/>
                <a:ea typeface="Manrope"/>
                <a:cs typeface="Manrope"/>
                <a:sym typeface="Manrope"/>
              </a:rPr>
              <a:t>https://img.freepik.com/premium-vector/concept-hacker-warning-red-attention-danger-symbol-circuit-board-data-breach-malware-cyber-attack-hacking-security-protection-concept-vector-illustration_974730-1062.jpg</a:t>
            </a:r>
            <a:endParaRPr/>
          </a:p>
        </p:txBody>
      </p:sp>
      <p:sp>
        <p:nvSpPr>
          <p:cNvPr id="773" name="Google Shape;773;p55"/>
          <p:cNvSpPr txBox="1"/>
          <p:nvPr/>
        </p:nvSpPr>
        <p:spPr>
          <a:xfrm>
            <a:off x="1676400" y="4823221"/>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Manrope"/>
                <a:ea typeface="Manrope"/>
                <a:cs typeface="Manrope"/>
                <a:sym typeface="Manrope"/>
              </a:rPr>
              <a:t>Source: </a:t>
            </a:r>
            <a:r>
              <a:rPr b="0" i="0" lang="en-US" sz="1200" u="none" cap="none" strike="noStrike">
                <a:solidFill>
                  <a:srgbClr val="4F46E5"/>
                </a:solidFill>
                <a:latin typeface="Manrope"/>
                <a:ea typeface="Manrope"/>
                <a:cs typeface="Manrope"/>
                <a:sym typeface="Manrope"/>
              </a:rPr>
              <a:t>www.freepik.com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